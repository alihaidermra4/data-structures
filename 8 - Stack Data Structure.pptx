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700" r:id="rId2"/>
    <p:sldId id="701" r:id="rId3"/>
    <p:sldId id="702" r:id="rId4"/>
    <p:sldId id="703" r:id="rId5"/>
    <p:sldId id="704" r:id="rId6"/>
    <p:sldId id="705" r:id="rId7"/>
    <p:sldId id="706" r:id="rId8"/>
    <p:sldId id="707" r:id="rId9"/>
    <p:sldId id="708" r:id="rId10"/>
    <p:sldId id="709" r:id="rId11"/>
    <p:sldId id="710" r:id="rId12"/>
    <p:sldId id="711" r:id="rId13"/>
    <p:sldId id="712" r:id="rId14"/>
    <p:sldId id="713" r:id="rId15"/>
    <p:sldId id="714" r:id="rId16"/>
    <p:sldId id="715" r:id="rId17"/>
    <p:sldId id="716" r:id="rId18"/>
    <p:sldId id="717" r:id="rId19"/>
    <p:sldId id="718" r:id="rId20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317"/>
    <p:restoredTop sz="94715"/>
  </p:normalViewPr>
  <p:slideViewPr>
    <p:cSldViewPr snapToGrid="0">
      <p:cViewPr varScale="1">
        <p:scale>
          <a:sx n="116" d="100"/>
          <a:sy n="116" d="100"/>
        </p:scale>
        <p:origin x="208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C74A6-3486-CEBB-7B3C-A0D8D74043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E2772E-6BF2-07BC-A123-1E14A7A572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908D5-1EBC-B314-CD17-F710D36CB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18/10/2026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C1FCA-FC01-1A25-F163-3AE086E89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511B0-D414-AFE8-55F9-DD3D99199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22298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DD55C-0889-7BF1-ED09-068AD5433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2D896-E10B-B7DA-8ED6-A75CF9E33C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263BA5-FD8D-7D66-3FF9-FC52F8B17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18/10/2026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E0EE3-12C2-E477-B55C-F3522575A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BE645-FF5D-28AE-9C60-D8CE6D577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02468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E2605-1099-8D96-42AC-BAF5114A6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0EFE4-8D9A-AAC5-51AF-5AEFD3E605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EEDB1-408E-81B1-DCDD-47CFBAB08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18/10/2026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65684-6FAB-EB39-B4B3-32F2CF97E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4839F-A15C-B52F-C060-1F4E2F966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02435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F677E-443C-1372-4DA2-82BF5FB5E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8DC6B-0882-D1AA-9067-00DA923118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46EEF1-350D-8169-B11C-B4526887B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66A852-0831-3634-88FE-D168ADA64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18/10/2026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17E0B-CF33-066A-F303-DCE850885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B428FC-579B-7136-C517-60FD74B5C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67284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CA0E-D9E9-2832-EA04-50415929C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34A9D-4197-DD71-1593-D5FC646B0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6D7CB1-5DFD-F1C0-280A-408A3D396F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007FEA-87B8-E257-D937-B8DD1FD91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C0A731-F7AE-6170-556C-FC33E4A82C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85A504-606E-38AE-AD4A-02E21F4DC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18/10/2026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258D57-22D0-48D2-A0B0-52CD18AF8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28C1C7-D1FC-BD99-195D-46EBC997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02815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3333C-9180-7F02-0975-EB604602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2BC407-B6A0-2C6C-9861-617ED3381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18/10/2026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AA43D5-908E-A819-B4D6-71231101A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767765-88B4-53BE-FB18-1BA002D64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09075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A2C2FE-9C39-2697-967E-79D60C4FB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18/10/2026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36E2B1-F99A-CA39-AB3D-774523DAA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93E33-02D7-77E5-4A05-0EFC58D19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94303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92E82-C82F-DA1C-B68A-52024C235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EB2E36-2BF7-C552-BF94-A246C81F3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C6278C-8DE4-60A1-C942-C52178EDD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206CD0-D943-4F68-B733-850CD7B22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18/10/2026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730A8-BED5-6566-8938-0191AA838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47DB4-9666-D112-8BE7-0487D50F0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80466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E47B1-2162-ADFD-AD1D-91A137326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C2F9E4-651F-4ABE-2B05-CDC5BFA71B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042846-B684-CBCC-0518-34138420A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3F6B4-9E15-1580-F8E9-4B7EAD334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18/10/2026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02D62-B57E-02D4-39B8-57B08AB11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195C1-F4B4-138C-FE72-3884CA32A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67051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3BD72-38C5-DFA2-28CA-2A01DE383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AFEFBE-1C46-DE61-DD8D-ACA049D260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51CFE-92D2-E19C-8773-180B6526C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18/10/2026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A9927-B32F-ADF3-B1DE-C032493E5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672E8-EFD5-878D-EAC8-C2EA47A5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69333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28F3B9-E62D-DD81-AA7F-31DDBA2B6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4307DB-8D97-992C-1DA3-1A7BA616C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84DC32-2782-6B94-F2E0-678477737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3D54-E75F-4C46-B59C-5FBC42FC52BD}" type="datetimeFigureOut">
              <a:rPr lang="en-PK" smtClean="0"/>
              <a:t>18/10/2026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FB17B-ECC4-2725-0442-DE14676FB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395DC-CFE8-5C81-E504-01691928F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B765D4-72FA-AA48-A287-0E865C8234E9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58608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6E4CF7-BC1E-6FB6-5522-2AC188A6D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08B65F-F070-67BC-E9A0-38B45928C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PK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E9B9C-174B-870D-D462-5902FDFC60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38EF3D54-E75F-4C46-B59C-5FBC42FC52BD}" type="datetimeFigureOut">
              <a:rPr lang="en-PK" smtClean="0"/>
              <a:pPr/>
              <a:t>18/10/2026</a:t>
            </a:fld>
            <a:endParaRPr lang="en-P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37645-3BCE-0FDA-61B8-FD168DBE02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P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C82DE-6318-99DF-B090-F4FB4FF4F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ADB765D4-72FA-AA48-A287-0E865C8234E9}" type="slidenum">
              <a:rPr lang="en-PK" smtClean="0"/>
              <a:pPr/>
              <a:t>‹#›</a:t>
            </a:fld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72646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EA65-A08C-0C4C-54E9-A686CB423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1715" y="1041400"/>
            <a:ext cx="10168569" cy="2387600"/>
          </a:xfrm>
        </p:spPr>
        <p:txBody>
          <a:bodyPr/>
          <a:lstStyle/>
          <a:p>
            <a:r>
              <a:rPr lang="en-PK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464B5B-AB60-D6AB-2E5B-1A3A46311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77463"/>
            <a:ext cx="9144000" cy="1655762"/>
          </a:xfrm>
        </p:spPr>
        <p:txBody>
          <a:bodyPr>
            <a:normAutofit/>
          </a:bodyPr>
          <a:lstStyle/>
          <a:p>
            <a:r>
              <a:rPr lang="en-P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Ali Haider</a:t>
            </a:r>
          </a:p>
          <a:p>
            <a:r>
              <a:rPr lang="en-P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CS &amp; IT</a:t>
            </a:r>
          </a:p>
          <a:p>
            <a:r>
              <a:rPr lang="en-PK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Management Sciences, Peshawar, Pakistan</a:t>
            </a:r>
          </a:p>
        </p:txBody>
      </p:sp>
    </p:spTree>
    <p:extLst>
      <p:ext uri="{BB962C8B-B14F-4D97-AF65-F5344CB8AC3E}">
        <p14:creationId xmlns:p14="http://schemas.microsoft.com/office/powerpoint/2010/main" val="3116823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What is a Stack?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A linear data structure where elements are added and removed from one end only, called the top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Follows the LIFO principle: Last In, First Out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The most recently added element is always the first to be removed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Defined by its behavior (an ADT), so it can be built on arrays or linked lists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Analogy: A stack of plates. You add a plate on top and take a plate from the top. You never pull one from the middle.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Stack as an Abstract Data Type (ADT)</a:t>
            </a:r>
            <a:endParaRPr lang="en-PK" b="1" i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74520"/>
          <a:ext cx="10515600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Operation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Description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push(x)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Add element x on top of the stack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pop()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Remove and return the top element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peek() / top()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Read the top element without removing it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isEmpty()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Check whether the stack has no elements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isFull()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Check whether the stack has reached its capacity (array version)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Stack Operations - Step by Step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8563"/>
          </a:xfrm>
        </p:spPr>
        <p:txBody>
          <a:bodyPr>
            <a:normAutofit fontScale="97500"/>
          </a:bodyPr>
          <a:lstStyle/>
          <a:p>
            <a:pPr marL="0" indent="0">
              <a:buNone/>
            </a:pPr>
            <a:r>
              <a:rPr lang="en-GB" dirty="0"/>
              <a:t>push(10)  -&gt;  stack is [10], top = 10</a:t>
            </a:r>
          </a:p>
          <a:p>
            <a:pPr marL="0" indent="0">
              <a:buNone/>
            </a:pPr>
            <a:r>
              <a:rPr lang="en-GB" dirty="0"/>
              <a:t>push(20)  -&gt;  stack is [10, 20], top = 20</a:t>
            </a:r>
          </a:p>
          <a:p>
            <a:pPr marL="0" indent="0">
              <a:buNone/>
            </a:pPr>
            <a:r>
              <a:rPr lang="en-GB" dirty="0"/>
              <a:t>push(30)  -&gt;  stack is [10, 20, 30], top = 30</a:t>
            </a:r>
          </a:p>
          <a:p>
            <a:pPr marL="0" indent="0">
              <a:buNone/>
            </a:pPr>
            <a:r>
              <a:rPr lang="en-GB" dirty="0"/>
              <a:t>pop()  -&gt;  returns 30, stack is [10, 20]</a:t>
            </a:r>
          </a:p>
          <a:p>
            <a:pPr marL="0" indent="0">
              <a:buNone/>
            </a:pPr>
            <a:r>
              <a:rPr lang="en-GB" dirty="0"/>
              <a:t>peek()  -&gt;  returns 20, stack unchanged [10, 20]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Bottom of the stack is on the left; the top is on the right.</a:t>
            </a:r>
          </a:p>
          <a:p>
            <a:pPr marL="0" indent="0">
              <a:buNone/>
            </a:pPr>
            <a:r>
              <a:rPr lang="en-GB" dirty="0"/>
              <a:t>pop() removed 30, the last element pushed. peek() only looks.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Array Implementation - Setup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8563"/>
          </a:xfrm>
        </p:spPr>
        <p:txBody>
          <a:bodyPr>
            <a:normAutofit fontScale="97500"/>
          </a:bodyPr>
          <a:lstStyle/>
          <a:p>
            <a:pPr marL="0" indent="0">
              <a:buNone/>
            </a:pPr>
            <a:r>
              <a:rPr lang="en-GB" dirty="0"/>
              <a:t>Use a fixed-size array plus a variable that tracks how many elements are stored</a:t>
            </a:r>
          </a:p>
          <a:p>
            <a:pPr marL="0" indent="0">
              <a:buNone/>
            </a:pPr>
            <a:r>
              <a:rPr lang="en-GB" dirty="0"/>
              <a:t>CAPACITY = physical size, size = logical size (same idea as in the array programs)</a:t>
            </a:r>
          </a:p>
          <a:p>
            <a:pPr marL="0" indent="0">
              <a:buNone/>
            </a:pPr>
            <a:r>
              <a:rPr lang="en-GB" dirty="0"/>
              <a:t>The top element is always at index size - 1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const int CAPACITY = 5;</a:t>
            </a:r>
          </a:p>
          <a:p>
            <a:pPr marL="0" indent="0">
              <a:buNone/>
            </a:pPr>
            <a:r>
              <a:rPr lang="en-GB" dirty="0"/>
              <a:t>int stack[CAPACITY];</a:t>
            </a:r>
          </a:p>
          <a:p>
            <a:pPr marL="0" indent="0">
              <a:buNone/>
            </a:pPr>
            <a:r>
              <a:rPr lang="en-GB" dirty="0"/>
              <a:t>int size = 0;          // empty stack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Push Operation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8563"/>
          </a:xfrm>
        </p:spPr>
        <p:txBody>
          <a:bodyPr>
            <a:normAutofit fontScale="72500" lnSpcReduction="20000"/>
          </a:bodyPr>
          <a:lstStyle/>
          <a:p>
            <a:pPr marL="0" indent="0">
              <a:buNone/>
            </a:pPr>
            <a:r>
              <a:rPr lang="en-GB" dirty="0"/>
              <a:t>Algorithm: Push(stack, value)</a:t>
            </a:r>
          </a:p>
          <a:p>
            <a:pPr marL="0" indent="0">
              <a:buNone/>
            </a:pPr>
            <a:r>
              <a:rPr lang="en-GB" dirty="0"/>
              <a:t>1. If size == CAPACITY: stack overflow, stop</a:t>
            </a:r>
          </a:p>
          <a:p>
            <a:pPr marL="0" indent="0">
              <a:buNone/>
            </a:pPr>
            <a:r>
              <a:rPr lang="en-GB" dirty="0"/>
              <a:t>2. stack[size] = value</a:t>
            </a:r>
          </a:p>
          <a:p>
            <a:pPr marL="0" indent="0">
              <a:buNone/>
            </a:pPr>
            <a:r>
              <a:rPr lang="en-GB" dirty="0"/>
              <a:t>3. size = size + 1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void push(int stack[], int &amp;size, int capacity, int value) {</a:t>
            </a:r>
          </a:p>
          <a:p>
            <a:pPr marL="0" indent="0">
              <a:buNone/>
            </a:pPr>
            <a:r>
              <a:rPr lang="en-GB" dirty="0"/>
              <a:t>    if (size &gt;= capacity) {</a:t>
            </a:r>
          </a:p>
          <a:p>
            <a:pPr marL="0" indent="0">
              <a:buNone/>
            </a:pPr>
            <a:r>
              <a:rPr lang="en-GB" dirty="0"/>
              <a:t>        cout &lt;&lt; "Stack Overflow\n";</a:t>
            </a:r>
          </a:p>
          <a:p>
            <a:pPr marL="0" indent="0">
              <a:buNone/>
            </a:pPr>
            <a:r>
              <a:rPr lang="en-GB" dirty="0"/>
              <a:t>        return;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    stack[size] = value;</a:t>
            </a:r>
          </a:p>
          <a:p>
            <a:pPr marL="0" indent="0">
              <a:buNone/>
            </a:pPr>
            <a:r>
              <a:rPr lang="en-GB" dirty="0"/>
              <a:t>    size++;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r>
              <a:rPr lang="en-GB" dirty="0"/>
              <a:t>// No shifting needed, so push is O(1)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Pop Operation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8563"/>
          </a:xfrm>
        </p:spPr>
        <p:txBody>
          <a:bodyPr>
            <a:normAutofit fontScale="72500" lnSpcReduction="20000"/>
          </a:bodyPr>
          <a:lstStyle/>
          <a:p>
            <a:pPr marL="0" indent="0">
              <a:buNone/>
            </a:pPr>
            <a:r>
              <a:rPr lang="en-GB" dirty="0"/>
              <a:t>Algorithm: Pop(stack)</a:t>
            </a:r>
          </a:p>
          <a:p>
            <a:pPr marL="0" indent="0">
              <a:buNone/>
            </a:pPr>
            <a:r>
              <a:rPr lang="en-GB" dirty="0"/>
              <a:t>1. If size == 0: stack underflow, stop</a:t>
            </a:r>
          </a:p>
          <a:p>
            <a:pPr marL="0" indent="0">
              <a:buNone/>
            </a:pPr>
            <a:r>
              <a:rPr lang="en-GB" dirty="0"/>
              <a:t>2. size = size - 1</a:t>
            </a:r>
          </a:p>
          <a:p>
            <a:pPr marL="0" indent="0">
              <a:buNone/>
            </a:pPr>
            <a:r>
              <a:rPr lang="en-GB" dirty="0"/>
              <a:t>3. Return stack[size]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int pop(int stack[], int &amp;size) {</a:t>
            </a:r>
          </a:p>
          <a:p>
            <a:pPr marL="0" indent="0">
              <a:buNone/>
            </a:pPr>
            <a:r>
              <a:rPr lang="en-GB" dirty="0"/>
              <a:t>    if (size &lt;= 0) {</a:t>
            </a:r>
          </a:p>
          <a:p>
            <a:pPr marL="0" indent="0">
              <a:buNone/>
            </a:pPr>
            <a:r>
              <a:rPr lang="en-GB" dirty="0"/>
              <a:t>        cout &lt;&lt; "Stack Underflow\n";</a:t>
            </a:r>
          </a:p>
          <a:p>
            <a:pPr marL="0" indent="0">
              <a:buNone/>
            </a:pPr>
            <a:r>
              <a:rPr lang="en-GB" dirty="0"/>
              <a:t>        return -1;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    size--;</a:t>
            </a:r>
          </a:p>
          <a:p>
            <a:pPr marL="0" indent="0">
              <a:buNone/>
            </a:pPr>
            <a:r>
              <a:rPr lang="en-GB" dirty="0"/>
              <a:t>    return stack[size];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r>
              <a:rPr lang="en-GB" dirty="0"/>
              <a:t>// Pop only decrements size; the old value stays in memory but is logically gone. O(1)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Peek, isEmpty, isFull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8563"/>
          </a:xfrm>
        </p:spPr>
        <p:txBody>
          <a:bodyPr>
            <a:normAutofit fontScale="75000" lnSpcReduction="20000"/>
          </a:bodyPr>
          <a:lstStyle/>
          <a:p>
            <a:pPr marL="0" indent="0">
              <a:buNone/>
            </a:pPr>
            <a:r>
              <a:rPr lang="en-GB" dirty="0"/>
              <a:t>int peek(int stack[], int size) {</a:t>
            </a:r>
          </a:p>
          <a:p>
            <a:pPr marL="0" indent="0">
              <a:buNone/>
            </a:pPr>
            <a:r>
              <a:rPr lang="en-GB" dirty="0"/>
              <a:t>    if (size &lt;= 0) {</a:t>
            </a:r>
          </a:p>
          <a:p>
            <a:pPr marL="0" indent="0">
              <a:buNone/>
            </a:pPr>
            <a:r>
              <a:rPr lang="en-GB" dirty="0"/>
              <a:t>        cout &lt;&lt; "Stack is empty\n";</a:t>
            </a:r>
          </a:p>
          <a:p>
            <a:pPr marL="0" indent="0">
              <a:buNone/>
            </a:pPr>
            <a:r>
              <a:rPr lang="en-GB" dirty="0"/>
              <a:t>        return -1;</a:t>
            </a:r>
          </a:p>
          <a:p>
            <a:pPr marL="0" indent="0">
              <a:buNone/>
            </a:pPr>
            <a:r>
              <a:rPr lang="en-GB" dirty="0"/>
              <a:t>    }</a:t>
            </a:r>
          </a:p>
          <a:p>
            <a:pPr marL="0" indent="0">
              <a:buNone/>
            </a:pPr>
            <a:r>
              <a:rPr lang="en-GB" dirty="0"/>
              <a:t>    return stack[size - 1];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bool isEmpty(int size) { return size == 0;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bool isFull(int size, int capacity) { return size == capacity; }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// All three run in O(1)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Overflow and Underflow</a:t>
            </a:r>
            <a:endParaRPr lang="en-PK" b="1" i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74520"/>
          <a:ext cx="10515600" cy="1371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Condition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When it happens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Handling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Stack Overflow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push on a full stack (size == CAPACITY)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Check isFull() first and reject the push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Stack Underflow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pop or peek on an empty stack (size == 0)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Check isEmpty() first and report an error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Stack - Complete Program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85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dirty="0"/>
              <a:t>#include &lt;iostream&gt;</a:t>
            </a:r>
          </a:p>
          <a:p>
            <a:pPr marL="0" indent="0">
              <a:buNone/>
            </a:pPr>
            <a:r>
              <a:rPr lang="en-GB" dirty="0"/>
              <a:t>using namespace std;</a:t>
            </a:r>
          </a:p>
          <a:p>
            <a:pPr marL="0" indent="0">
              <a:buNone/>
            </a:pPr>
            <a:r>
              <a:rPr lang="en-GB" dirty="0"/>
              <a:t>int main() {</a:t>
            </a:r>
          </a:p>
          <a:p>
            <a:pPr marL="0" indent="0">
              <a:buNone/>
            </a:pPr>
            <a:r>
              <a:rPr lang="en-GB" dirty="0"/>
              <a:t>    const int CAPACITY = 5;</a:t>
            </a:r>
          </a:p>
          <a:p>
            <a:pPr marL="0" indent="0">
              <a:buNone/>
            </a:pPr>
            <a:r>
              <a:rPr lang="en-GB" dirty="0"/>
              <a:t>    int stack[CAPACITY];</a:t>
            </a:r>
          </a:p>
          <a:p>
            <a:pPr marL="0" indent="0">
              <a:buNone/>
            </a:pPr>
            <a:r>
              <a:rPr lang="en-GB" dirty="0"/>
              <a:t>    int size = 0;</a:t>
            </a:r>
          </a:p>
          <a:p>
            <a:pPr marL="0" indent="0">
              <a:buNone/>
            </a:pPr>
            <a:r>
              <a:rPr lang="en-GB" dirty="0"/>
              <a:t>    push(stack, size, CAPACITY, 10);</a:t>
            </a:r>
          </a:p>
          <a:p>
            <a:pPr marL="0" indent="0">
              <a:buNone/>
            </a:pPr>
            <a:r>
              <a:rPr lang="en-GB" dirty="0"/>
              <a:t>    push(stack, size, CAPACITY, 20);</a:t>
            </a:r>
          </a:p>
          <a:p>
            <a:pPr marL="0" indent="0">
              <a:buNone/>
            </a:pPr>
            <a:r>
              <a:rPr lang="en-GB" dirty="0"/>
              <a:t>    push(stack, size, CAPACITY, 30);</a:t>
            </a:r>
          </a:p>
          <a:p>
            <a:pPr marL="0" indent="0">
              <a:buNone/>
            </a:pPr>
            <a:r>
              <a:rPr lang="en-GB" dirty="0"/>
              <a:t>    cout &lt;&lt; "Top: " &lt;&lt; peek(stack, size) &lt;&lt; endl;      // 30</a:t>
            </a:r>
          </a:p>
          <a:p>
            <a:pPr marL="0" indent="0">
              <a:buNone/>
            </a:pPr>
            <a:r>
              <a:rPr lang="en-GB" dirty="0"/>
              <a:t>    cout &lt;&lt; "Popped: " &lt;&lt; pop(stack, size) &lt;&lt; endl;    // 30</a:t>
            </a:r>
          </a:p>
          <a:p>
            <a:pPr marL="0" indent="0">
              <a:buNone/>
            </a:pPr>
            <a:r>
              <a:rPr lang="en-GB" dirty="0"/>
              <a:t>    cout &lt;&lt; "Top now: " &lt;&lt; peek(stack, size) &lt;&lt; endl;  // 20</a:t>
            </a:r>
          </a:p>
          <a:p>
            <a:pPr marL="0" indent="0">
              <a:buNone/>
            </a:pPr>
            <a:r>
              <a:rPr lang="en-GB" dirty="0"/>
              <a:t>    return 0;</a:t>
            </a:r>
          </a:p>
          <a:p>
            <a:pPr marL="0" indent="0">
              <a:buNone/>
            </a:pPr>
            <a:r>
              <a:rPr lang="en-GB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Stack - Dry Run (CAPACITY = 5)</a:t>
            </a:r>
            <a:endParaRPr lang="en-PK" b="1" i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600000"/>
          <a:ext cx="10515600" cy="29260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Operation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Stack contents (bottom to top)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size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Start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(empty)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0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push(10)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10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1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push(20)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10, 20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2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push(30)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10, 20, 30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3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pop() returns 30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10, 20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2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peek() returns 20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10, 20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2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pop() returns 20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10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1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Stack - Complexity</a:t>
            </a:r>
            <a:endParaRPr lang="en-PK" b="1" i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74520"/>
          <a:ext cx="10515600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Operation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Time Complexity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push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O(1)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pop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O(1)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peek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O(1)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isEmpty / isFull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O(1)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Space (array of capacity n)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O(n)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Application 1 - Reversing a String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8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Push each character onto the stack, then pop them all</a:t>
            </a:r>
          </a:p>
          <a:p>
            <a:pPr marL="0" indent="0">
              <a:buNone/>
            </a:pPr>
            <a:r>
              <a:rPr lang="en-GB" dirty="0"/>
              <a:t>LIFO order produces the reverse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string s = "DATA";</a:t>
            </a:r>
          </a:p>
          <a:p>
            <a:pPr marL="0" indent="0">
              <a:buNone/>
            </a:pPr>
            <a:r>
              <a:rPr lang="en-GB" dirty="0"/>
              <a:t>for (char c : s) push(c);            // D, A, T, A pushed</a:t>
            </a:r>
          </a:p>
          <a:p>
            <a:pPr marL="0" indent="0">
              <a:buNone/>
            </a:pPr>
            <a:r>
              <a:rPr lang="en-GB" dirty="0"/>
              <a:t>while (!isEmpty()) cout &lt;&lt; pop();    // prints ATAD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Application 2 - Balanced Parentheses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Scan the expression left to right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On an opening bracket ( { [ : push it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On a closing bracket: pop and check it matches the opening type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Balanced only if the stack is empty at the end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Examples:</a:t>
            </a:r>
          </a:p>
          <a:p>
            <a:pPr lvl="1" rtl="0">
              <a:buFont typeface="Arial" panose="020B0604020202020204" pitchFamily="34" charset="0"/>
              <a:buChar char="–"/>
            </a:pPr>
            <a:r>
              <a:rPr lang="en-GB" dirty="0"/>
              <a:t>{[()]}  -  balanced</a:t>
            </a:r>
          </a:p>
          <a:p>
            <a:pPr lvl="1" rtl="0">
              <a:buFont typeface="Arial" panose="020B0604020202020204" pitchFamily="34" charset="0"/>
              <a:buChar char="–"/>
            </a:pPr>
            <a:r>
              <a:rPr lang="en-GB" dirty="0"/>
              <a:t>(]  -  not balanced (mismatch)</a:t>
            </a:r>
          </a:p>
          <a:p>
            <a:pPr lvl="1" rtl="0">
              <a:buFont typeface="Arial" panose="020B0604020202020204" pitchFamily="34" charset="0"/>
              <a:buChar char="–"/>
            </a:pPr>
            <a:r>
              <a:rPr lang="en-GB" dirty="0"/>
              <a:t>((()  -  not balanced (stack not empty at the end)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Other Real-World Applications</a:t>
            </a:r>
            <a:endParaRPr lang="en-PK" b="1" i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700000"/>
          <a:ext cx="10515600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Application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How a stack is used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Undo / Redo in editors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Each action is pushed; undo pops the latest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Function call stack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Each call is pushed; return pops it (links to Week 4: Recursion)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Browser back button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Visited pages are pushed; back pops the current page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Expression evaluation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Operators and operands held on a stack (infix/postfix)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Backtracking (mazes, DFS)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Remember the path; pop to step back (links to Week 13: DFS)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Array vs Linked Implementation</a:t>
            </a:r>
            <a:endParaRPr lang="en-PK" b="1" i="1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1874520"/>
          <a:ext cx="10515600" cy="18288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Aspect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Array-based Stack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dirty="0"/>
                        <a:t>Linked-List Stack</a:t>
                      </a:r>
                      <a:endParaRPr lang="en-GB" b="1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Size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Fixed (CAPACITY)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Grows dynamically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Overflow possible?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Yes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Only if memory runs out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Memory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No extra pointers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Extra pointer per node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Push / Pop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O(1)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dirty="0"/>
                        <a:t>O(1)</a:t>
                      </a:r>
                      <a:endParaRPr lang="en-GB" b="0" i="0" dirty="0">
                        <a:latin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dirty="0"/>
              <a:t>Summary</a:t>
            </a:r>
            <a:endParaRPr lang="en-PK" b="1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A stack is a LIFO linear structure with access only at the top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Core operations: push, pop, peek, isEmpty, isFull - all O(1)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The array version tracks size vs CAPACITY; overflow and underflow must be checked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Used in undo, function calls, expression parsing, bracket matching, and backtracking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GB" dirty="0"/>
              <a:t>Sets up recursion (Week 4) and later graph traversal (Week 13)</a:t>
            </a:r>
          </a:p>
        </p:txBody>
      </p:sp>
    </p:spTree>
    <p:extLst>
      <p:ext uri="{BB962C8B-B14F-4D97-AF65-F5344CB8AC3E}">
        <p14:creationId xmlns:p14="http://schemas.microsoft.com/office/powerpoint/2010/main" val="1000000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737F4-0E24-92C2-3AB6-A1E7A362B039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39938269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C764B33-882A-32B8-7F73-E22BD1AF9CCC}"/>
              </a:ext>
            </a:extLst>
          </p:cNvPr>
          <p:cNvSpPr txBox="1">
            <a:spLocks/>
          </p:cNvSpPr>
          <p:nvPr/>
        </p:nvSpPr>
        <p:spPr>
          <a:xfrm>
            <a:off x="838200" y="2864385"/>
            <a:ext cx="10515600" cy="1575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PK" sz="6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6262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1267</Words>
  <Application>Microsoft Macintosh PowerPoint</Application>
  <PresentationFormat>Widescreen</PresentationFormat>
  <Paragraphs>200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Stack</vt:lpstr>
      <vt:lpstr>What is a Stack?</vt:lpstr>
      <vt:lpstr>Stack as an Abstract Data Type (ADT)</vt:lpstr>
      <vt:lpstr>Stack Operations - Step by Step</vt:lpstr>
      <vt:lpstr>Array Implementation - Setup</vt:lpstr>
      <vt:lpstr>Push Operation</vt:lpstr>
      <vt:lpstr>Pop Operation</vt:lpstr>
      <vt:lpstr>Peek, isEmpty, isFull</vt:lpstr>
      <vt:lpstr>Overflow and Underflow</vt:lpstr>
      <vt:lpstr>Stack - Complete Program</vt:lpstr>
      <vt:lpstr>Stack - Dry Run (CAPACITY = 5)</vt:lpstr>
      <vt:lpstr>Stack - Complexity</vt:lpstr>
      <vt:lpstr>Application 1 - Reversing a String</vt:lpstr>
      <vt:lpstr>Application 2 - Balanced Parentheses</vt:lpstr>
      <vt:lpstr>Other Real-World Applications</vt:lpstr>
      <vt:lpstr>Array vs Linked Implementation</vt:lpstr>
      <vt:lpstr>Summary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Object-Oriented Programming</dc:title>
  <dc:creator>Microsoft Office User</dc:creator>
  <cp:lastModifiedBy>Microsoft Office User</cp:lastModifiedBy>
  <cp:revision>7</cp:revision>
  <dcterms:created xsi:type="dcterms:W3CDTF">2026-07-17T16:00:13Z</dcterms:created>
  <dcterms:modified xsi:type="dcterms:W3CDTF">2026-10-18T14:20:08Z</dcterms:modified>
</cp:coreProperties>
</file>