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66" r:id="rId3"/>
    <p:sldId id="267" r:id="rId4"/>
    <p:sldId id="268" r:id="rId5"/>
    <p:sldId id="269" r:id="rId6"/>
    <p:sldId id="270" r:id="rId7"/>
    <p:sldId id="274" r:id="rId8"/>
    <p:sldId id="271" r:id="rId9"/>
    <p:sldId id="272" r:id="rId10"/>
    <p:sldId id="273" r:id="rId11"/>
    <p:sldId id="275" r:id="rId12"/>
    <p:sldId id="276" r:id="rId13"/>
    <p:sldId id="264" r:id="rId14"/>
    <p:sldId id="265" r:id="rId15"/>
  </p:sldIdLst>
  <p:sldSz cx="12192000" cy="6858000"/>
  <p:notesSz cx="6858000" cy="9144000"/>
  <p:defaultTextStyle>
    <a:defPPr>
      <a:defRPr lang="en-P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317"/>
    <p:restoredTop sz="94648"/>
  </p:normalViewPr>
  <p:slideViewPr>
    <p:cSldViewPr snapToGrid="0">
      <p:cViewPr varScale="1">
        <p:scale>
          <a:sx n="116" d="100"/>
          <a:sy n="116" d="100"/>
        </p:scale>
        <p:origin x="208" y="3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6C74A6-3486-CEBB-7B3C-A0D8D74043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9E2772E-6BF2-07BC-A123-1E14A7A572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2908D5-1EBC-B314-CD17-F710D36CBE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F3D54-E75F-4C46-B59C-5FBC42FC52BD}" type="datetimeFigureOut">
              <a:rPr lang="en-PK" smtClean="0"/>
              <a:t>13/09/2026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CC1FCA-FC01-1A25-F163-3AE086E89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2511B0-D414-AFE8-55F9-DD3D991993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765D4-72FA-AA48-A287-0E865C8234E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7222984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ADD55C-0889-7BF1-ED09-068AD5433B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C2D896-E10B-B7DA-8ED6-A75CF9E33C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263BA5-FD8D-7D66-3FF9-FC52F8B179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F3D54-E75F-4C46-B59C-5FBC42FC52BD}" type="datetimeFigureOut">
              <a:rPr lang="en-PK" smtClean="0"/>
              <a:t>13/09/2026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4E0EE3-12C2-E477-B55C-F3522575A0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DBE645-FF5D-28AE-9C60-D8CE6D577B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765D4-72FA-AA48-A287-0E865C8234E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0024682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AE2605-1099-8D96-42AC-BAF5114A6C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80EFE4-8D9A-AAC5-51AF-5AEFD3E605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9EEDB1-408E-81B1-DCDD-47CFBAB08F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F3D54-E75F-4C46-B59C-5FBC42FC52BD}" type="datetimeFigureOut">
              <a:rPr lang="en-PK" smtClean="0"/>
              <a:t>13/09/2026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F65684-6FAB-EB39-B4B3-32F2CF97E5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A4839F-A15C-B52F-C060-1F4E2F9664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765D4-72FA-AA48-A287-0E865C8234E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5024356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1F677E-443C-1372-4DA2-82BF5FB5E3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88DC6B-0882-D1AA-9067-00DA923118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46EEF1-350D-8169-B11C-B4526887BB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66A852-0831-3634-88FE-D168ADA645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F3D54-E75F-4C46-B59C-5FBC42FC52BD}" type="datetimeFigureOut">
              <a:rPr lang="en-PK" smtClean="0"/>
              <a:t>13/09/2026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317E0B-CF33-066A-F303-DCE850885C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B428FC-579B-7136-C517-60FD74B5C9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765D4-72FA-AA48-A287-0E865C8234E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1672845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95CA0E-D9E9-2832-EA04-50415929CE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B34A9D-4197-DD71-1593-D5FC646B07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6D7CB1-5DFD-F1C0-280A-408A3D396F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9007FEA-87B8-E257-D937-B8DD1FD91C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6C0A731-F7AE-6170-556C-FC33E4A82C6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E85A504-606E-38AE-AD4A-02E21F4DCA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F3D54-E75F-4C46-B59C-5FBC42FC52BD}" type="datetimeFigureOut">
              <a:rPr lang="en-PK" smtClean="0"/>
              <a:t>13/09/2026</a:t>
            </a:fld>
            <a:endParaRPr lang="en-P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1258D57-22D0-48D2-A0B0-52CD18AF84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B28C1C7-D1FC-BD99-195D-46EBC997F0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765D4-72FA-AA48-A287-0E865C8234E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8028159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83333C-9180-7F02-0975-EB604602D8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2BC407-B6A0-2C6C-9861-617ED33814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F3D54-E75F-4C46-B59C-5FBC42FC52BD}" type="datetimeFigureOut">
              <a:rPr lang="en-PK" smtClean="0"/>
              <a:t>13/09/2026</a:t>
            </a:fld>
            <a:endParaRPr lang="en-P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AA43D5-908E-A819-B4D6-71231101AC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4767765-88B4-53BE-FB18-1BA002D643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765D4-72FA-AA48-A287-0E865C8234E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2090751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2A2C2FE-9C39-2697-967E-79D60C4FB5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F3D54-E75F-4C46-B59C-5FBC42FC52BD}" type="datetimeFigureOut">
              <a:rPr lang="en-PK" smtClean="0"/>
              <a:t>13/09/2026</a:t>
            </a:fld>
            <a:endParaRPr lang="en-P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036E2B1-F99A-CA39-AB3D-774523DAA3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B93E33-02D7-77E5-4A05-0EFC58D197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765D4-72FA-AA48-A287-0E865C8234E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1943039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B92E82-C82F-DA1C-B68A-52024C2350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EB2E36-2BF7-C552-BF94-A246C81F3E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C6278C-8DE4-60A1-C942-C52178EDD2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206CD0-D943-4F68-B733-850CD7B225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F3D54-E75F-4C46-B59C-5FBC42FC52BD}" type="datetimeFigureOut">
              <a:rPr lang="en-PK" smtClean="0"/>
              <a:t>13/09/2026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F730A8-BED5-6566-8938-0191AA8385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747DB4-9666-D112-8BE7-0487D50F0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765D4-72FA-AA48-A287-0E865C8234E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0804667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FE47B1-2162-ADFD-AD1D-91A137326F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CC2F9E4-651F-4ABE-2B05-CDC5BFA71B9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042846-B684-CBCC-0518-34138420AD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23F6B4-9E15-1580-F8E9-4B7EAD3345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F3D54-E75F-4C46-B59C-5FBC42FC52BD}" type="datetimeFigureOut">
              <a:rPr lang="en-PK" smtClean="0"/>
              <a:t>13/09/2026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A02D62-B57E-02D4-39B8-57B08AB11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A195C1-F4B4-138C-FE72-3884CA32A1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765D4-72FA-AA48-A287-0E865C8234E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6670511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D3BD72-38C5-DFA2-28CA-2A01DE3834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2AFEFBE-1C46-DE61-DD8D-ACA049D260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551CFE-92D2-E19C-8773-180B6526C1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F3D54-E75F-4C46-B59C-5FBC42FC52BD}" type="datetimeFigureOut">
              <a:rPr lang="en-PK" smtClean="0"/>
              <a:t>13/09/2026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0A9927-B32F-ADF3-B1DE-C032493E5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F672E8-EFD5-878D-EAC8-C2EA47A55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765D4-72FA-AA48-A287-0E865C8234E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9693336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C28F3B9-E62D-DD81-AA7F-31DDBA2B66E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4307DB-8D97-992C-1DA3-1A7BA616C7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84DC32-2782-6B94-F2E0-6784777371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F3D54-E75F-4C46-B59C-5FBC42FC52BD}" type="datetimeFigureOut">
              <a:rPr lang="en-PK" smtClean="0"/>
              <a:t>13/09/2026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4FB17B-ECC4-2725-0442-DE14676FB1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A395DC-CFE8-5C81-E504-01691928F9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765D4-72FA-AA48-A287-0E865C8234E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0586086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96E4CF7-BC1E-6FB6-5522-2AC188A6D3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dirty="0"/>
              <a:t>Click to edit Master title style</a:t>
            </a:r>
            <a:endParaRPr lang="en-PK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08B65F-F070-67BC-E9A0-38B45928CD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P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CE9B9C-174B-870D-D462-5902FDFC60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</a:defRPr>
            </a:lvl1pPr>
          </a:lstStyle>
          <a:p>
            <a:fld id="{38EF3D54-E75F-4C46-B59C-5FBC42FC52BD}" type="datetimeFigureOut">
              <a:rPr lang="en-PK" smtClean="0"/>
              <a:pPr/>
              <a:t>13/09/2026</a:t>
            </a:fld>
            <a:endParaRPr lang="en-PK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B37645-3BCE-0FDA-61B8-FD168DBE02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</a:defRPr>
            </a:lvl1pPr>
          </a:lstStyle>
          <a:p>
            <a:endParaRPr lang="en-PK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9C82DE-6318-99DF-B090-F4FB4FF4FB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</a:defRPr>
            </a:lvl1pPr>
          </a:lstStyle>
          <a:p>
            <a:fld id="{ADB765D4-72FA-AA48-A287-0E865C8234E9}" type="slidenum">
              <a:rPr lang="en-PK" smtClean="0"/>
              <a:pPr/>
              <a:t>‹#›</a:t>
            </a:fld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2726468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i="0" kern="1200">
          <a:solidFill>
            <a:schemeClr val="tx1"/>
          </a:solidFill>
          <a:latin typeface="Times New Roman" panose="02020603050405020304" pitchFamily="18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P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A5EA65-A08C-0C4C-54E9-A686CB423D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11715" y="1041400"/>
            <a:ext cx="10168569" cy="2387600"/>
          </a:xfrm>
        </p:spPr>
        <p:txBody>
          <a:bodyPr/>
          <a:lstStyle/>
          <a:p>
            <a:r>
              <a:rPr lang="en-PK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Structures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7464B5B-AB60-D6AB-2E5B-1A3A46311A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877463"/>
            <a:ext cx="9144000" cy="1655762"/>
          </a:xfrm>
        </p:spPr>
        <p:txBody>
          <a:bodyPr>
            <a:normAutofit/>
          </a:bodyPr>
          <a:lstStyle/>
          <a:p>
            <a:r>
              <a:rPr lang="en-PK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Mr. Ali Haider</a:t>
            </a:r>
          </a:p>
          <a:p>
            <a:r>
              <a:rPr lang="en-PK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School of CS &amp; IT</a:t>
            </a:r>
          </a:p>
          <a:p>
            <a:r>
              <a:rPr lang="en-PK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Institute of Management Sciences, Peshawar, Pakistan</a:t>
            </a:r>
          </a:p>
        </p:txBody>
      </p:sp>
    </p:spTree>
    <p:extLst>
      <p:ext uri="{BB962C8B-B14F-4D97-AF65-F5344CB8AC3E}">
        <p14:creationId xmlns:p14="http://schemas.microsoft.com/office/powerpoint/2010/main" val="31168239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EC3DCD-C6C5-54A4-C574-7132D7C8FC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i="1" dirty="0"/>
              <a:t>What is an Array?</a:t>
            </a:r>
            <a:endParaRPr lang="en-PK" b="1" i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08B589-924F-9B4D-7984-DD4631732C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rtl="0">
              <a:buFont typeface="Arial" panose="020B0604020202020204" pitchFamily="34" charset="0"/>
              <a:buChar char="•"/>
            </a:pPr>
            <a:r>
              <a:rPr lang="en-GB" dirty="0"/>
              <a:t>A collection of elements of the same data type, stored in contiguous memory locations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GB" dirty="0"/>
              <a:t>Each element is accessed using an index (starting from 0 in C++)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GB" dirty="0"/>
              <a:t>Fixed size - declared at compile time (for static arrays)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GB" dirty="0"/>
              <a:t>Simplest example of a linear data structure</a:t>
            </a:r>
          </a:p>
          <a:p>
            <a:pPr rtl="0"/>
            <a:r>
              <a:rPr lang="en-GB" dirty="0"/>
              <a:t>Analogy: A row of numbered lockers - same size, side by side, each holding one item.</a:t>
            </a:r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6144908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6E7E29-2C3A-D693-102D-095C22A3B4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i="1" dirty="0"/>
              <a:t>Why Arrays Matter</a:t>
            </a:r>
            <a:endParaRPr lang="en-PK" b="1" i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632B78-F40A-6E10-6FCE-06D2725FE2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Real-world data is often a sequence: student marks, temperatures, prices </a:t>
            </a:r>
          </a:p>
          <a:p>
            <a:r>
              <a:rPr lang="en-GB" dirty="0"/>
              <a:t>Arrays give fast, direct access to any element by position </a:t>
            </a:r>
          </a:p>
          <a:p>
            <a:r>
              <a:rPr lang="en-GB" dirty="0"/>
              <a:t>Foundation for many other structures: strings, matrices, stacks, hash tables </a:t>
            </a:r>
          </a:p>
          <a:p>
            <a:r>
              <a:rPr lang="en-GB" dirty="0"/>
              <a:t>Understanding arrays is the first step before moving to dynamic structures (linked lists, later in the course)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97095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EC32E8-3135-4924-1A62-C9C4F6A1C3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i="1" dirty="0"/>
              <a:t>Array Declaration and Initialization</a:t>
            </a:r>
            <a:endParaRPr lang="en-PK" b="1" i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F0B3E4-22E7-ADBB-145B-51D3779B90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GB" dirty="0"/>
              <a:t>// Declaration</a:t>
            </a:r>
          </a:p>
          <a:p>
            <a:r>
              <a:rPr lang="en-GB" dirty="0"/>
              <a:t>int marks[5];</a:t>
            </a:r>
          </a:p>
          <a:p>
            <a:endParaRPr lang="en-GB" dirty="0"/>
          </a:p>
          <a:p>
            <a:r>
              <a:rPr lang="en-GB" dirty="0"/>
              <a:t>// Declaration + Initialization</a:t>
            </a:r>
          </a:p>
          <a:p>
            <a:r>
              <a:rPr lang="en-GB" dirty="0"/>
              <a:t>int marks[5] = {90, 85, 76, 88, 95};</a:t>
            </a:r>
          </a:p>
          <a:p>
            <a:endParaRPr lang="en-GB" dirty="0"/>
          </a:p>
          <a:p>
            <a:r>
              <a:rPr lang="en-GB" dirty="0"/>
              <a:t>// Size inferred from initializer list</a:t>
            </a:r>
          </a:p>
          <a:p>
            <a:r>
              <a:rPr lang="en-GB" dirty="0"/>
              <a:t>int marks[] = {90, 85, 76, 88, 95};</a:t>
            </a:r>
          </a:p>
          <a:p>
            <a:endParaRPr lang="en-GB" dirty="0"/>
          </a:p>
          <a:p>
            <a:r>
              <a:rPr lang="en-GB" dirty="0"/>
              <a:t>// Default initialization (all zeros)</a:t>
            </a:r>
          </a:p>
          <a:p>
            <a:r>
              <a:rPr lang="en-GB" dirty="0"/>
              <a:t>int scores[5] = {};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2321987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6C2F1C-029A-55A0-CC77-44F7FF687E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i="1" dirty="0"/>
              <a:t>Memory Representation</a:t>
            </a:r>
            <a:endParaRPr lang="en-PK" b="1" i="1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F07E51C-9253-6461-1FFD-67335A284DF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21447177"/>
              </p:ext>
            </p:extLst>
          </p:nvPr>
        </p:nvGraphicFramePr>
        <p:xfrm>
          <a:off x="838200" y="2377440"/>
          <a:ext cx="10515600" cy="237744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3735799046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05445551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b="1" dirty="0"/>
                        <a:t>Concept</a:t>
                      </a:r>
                      <a:endParaRPr lang="en-GB" b="1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1" dirty="0"/>
                        <a:t>Description</a:t>
                      </a:r>
                      <a:endParaRPr lang="en-GB" b="1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17332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Base Address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Memory address of the first element (index 0).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296093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Element Size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Number of bytes each element occupies (e.g., </a:t>
                      </a:r>
                      <a:r>
                        <a:rPr lang="en-GB" b="0" dirty="0" err="1"/>
                        <a:t>sizeof</a:t>
                      </a:r>
                      <a:r>
                        <a:rPr lang="en-GB" b="0" dirty="0"/>
                        <a:t>(int) = 4 bytes).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95530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Address Formula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Address(A[</a:t>
                      </a:r>
                      <a:r>
                        <a:rPr lang="en-GB" b="0" dirty="0" err="1"/>
                        <a:t>i</a:t>
                      </a:r>
                      <a:r>
                        <a:rPr lang="en-GB" b="0" dirty="0"/>
                        <a:t>]) = Base + (</a:t>
                      </a:r>
                      <a:r>
                        <a:rPr lang="en-GB" b="0" dirty="0" err="1"/>
                        <a:t>i</a:t>
                      </a:r>
                      <a:r>
                        <a:rPr lang="en-GB" b="0" dirty="0"/>
                        <a:t> × Element Size)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401246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Contiguity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Elements are stored back-to-back in memory - no gaps.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23681694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F14B3A93-2AD4-8817-273F-36B166A5BBBA}"/>
              </a:ext>
            </a:extLst>
          </p:cNvPr>
          <p:cNvSpPr txBox="1"/>
          <p:nvPr/>
        </p:nvSpPr>
        <p:spPr>
          <a:xfrm>
            <a:off x="838199" y="5118466"/>
            <a:ext cx="105155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latin typeface="Times New Roman" panose="02020603050405020304" pitchFamily="18" charset="0"/>
              </a:rPr>
              <a:t>Example: If Base = 1000 and int size = 4 bytes, then A[3] is at address 1000 + (3 × 4) = 1012</a:t>
            </a:r>
            <a:endParaRPr lang="en-PK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04434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1CB043-DE3F-598B-DC2A-14C050200E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i="1" dirty="0"/>
              <a:t>Accessing and Traversing an Array</a:t>
            </a:r>
            <a:endParaRPr lang="en-PK" b="1" i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6CB0E6-39AB-C99D-BBA8-032CEE3DBE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28563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GB" dirty="0"/>
              <a:t>#include &lt;iostream&gt;</a:t>
            </a:r>
          </a:p>
          <a:p>
            <a:pPr marL="0" indent="0">
              <a:buNone/>
            </a:pPr>
            <a:r>
              <a:rPr lang="en-GB" dirty="0"/>
              <a:t>using namespace std;</a:t>
            </a:r>
          </a:p>
          <a:p>
            <a:pPr marL="0" indent="0">
              <a:buNone/>
            </a:pPr>
            <a:r>
              <a:rPr lang="en-GB" dirty="0"/>
              <a:t>int main() {</a:t>
            </a:r>
          </a:p>
          <a:p>
            <a:pPr marL="0" indent="0">
              <a:buNone/>
            </a:pPr>
            <a:r>
              <a:rPr lang="en-GB" dirty="0"/>
              <a:t>    int marks[5] = {90, 85, 76, 88, 95};</a:t>
            </a:r>
          </a:p>
          <a:p>
            <a:pPr marL="0" indent="0">
              <a:buNone/>
            </a:pPr>
            <a:r>
              <a:rPr lang="en-GB" dirty="0"/>
              <a:t>    // Access</a:t>
            </a:r>
          </a:p>
          <a:p>
            <a:pPr marL="0" indent="0">
              <a:buNone/>
            </a:pPr>
            <a:r>
              <a:rPr lang="en-GB" dirty="0"/>
              <a:t>    cout &lt;&lt; "First element: " &lt;&lt; marks[0] &lt;&lt; </a:t>
            </a:r>
            <a:r>
              <a:rPr lang="en-GB" dirty="0" err="1"/>
              <a:t>endl</a:t>
            </a:r>
            <a:r>
              <a:rPr lang="en-GB" dirty="0"/>
              <a:t>;</a:t>
            </a:r>
          </a:p>
          <a:p>
            <a:pPr marL="0" indent="0">
              <a:buNone/>
            </a:pPr>
            <a:r>
              <a:rPr lang="en-GB" dirty="0"/>
              <a:t>    // Traversal</a:t>
            </a:r>
          </a:p>
          <a:p>
            <a:pPr marL="0" indent="0">
              <a:buNone/>
            </a:pPr>
            <a:r>
              <a:rPr lang="en-GB" dirty="0"/>
              <a:t>    for (int </a:t>
            </a:r>
            <a:r>
              <a:rPr lang="en-GB" dirty="0" err="1"/>
              <a:t>i</a:t>
            </a:r>
            <a:r>
              <a:rPr lang="en-GB" dirty="0"/>
              <a:t> = 0; </a:t>
            </a:r>
            <a:r>
              <a:rPr lang="en-GB" dirty="0" err="1"/>
              <a:t>i</a:t>
            </a:r>
            <a:r>
              <a:rPr lang="en-GB" dirty="0"/>
              <a:t> &lt; 5; </a:t>
            </a:r>
            <a:r>
              <a:rPr lang="en-GB" dirty="0" err="1"/>
              <a:t>i</a:t>
            </a:r>
            <a:r>
              <a:rPr lang="en-GB" dirty="0"/>
              <a:t>++) {</a:t>
            </a:r>
          </a:p>
          <a:p>
            <a:pPr marL="0" indent="0">
              <a:buNone/>
            </a:pPr>
            <a:r>
              <a:rPr lang="en-GB" dirty="0"/>
              <a:t>        cout &lt;&lt; marks[</a:t>
            </a:r>
            <a:r>
              <a:rPr lang="en-GB" dirty="0" err="1"/>
              <a:t>i</a:t>
            </a:r>
            <a:r>
              <a:rPr lang="en-GB" dirty="0"/>
              <a:t>] &lt;&lt; " ";</a:t>
            </a:r>
          </a:p>
          <a:p>
            <a:pPr marL="0" indent="0">
              <a:buNone/>
            </a:pPr>
            <a:r>
              <a:rPr lang="en-GB" dirty="0"/>
              <a:t>    }</a:t>
            </a:r>
          </a:p>
          <a:p>
            <a:pPr marL="0" indent="0">
              <a:buNone/>
            </a:pPr>
            <a:r>
              <a:rPr lang="en-GB" dirty="0"/>
              <a:t>    return 0;</a:t>
            </a:r>
          </a:p>
          <a:p>
            <a:pPr marL="0" indent="0">
              <a:buNone/>
            </a:pPr>
            <a:r>
              <a:rPr lang="en-GB" dirty="0"/>
              <a:t>}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34607975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D8BE9C-D41D-594A-2E69-4E59074E5E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K" b="1" i="1" dirty="0"/>
              <a:t>Practice 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1FA5A4-4831-BE1D-4A30-A44991B9D8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Write a program to find the sum and average of all elements in an array in a single traversal. </a:t>
            </a:r>
          </a:p>
          <a:p>
            <a:r>
              <a:rPr lang="en-GB" dirty="0"/>
              <a:t>Write a program to find the largest and smallest element in an array without using any built-in functions.</a:t>
            </a:r>
          </a:p>
          <a:p>
            <a:r>
              <a:rPr lang="en-GB" dirty="0"/>
              <a:t>Write a program that traverses an array and returns a new array containing only elements greater than a given threshold (without altering the original array).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41754035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6CEB3F-988B-57A8-ECE2-B5C8E9B306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i="1" dirty="0"/>
              <a:t>Basic Array Operations</a:t>
            </a:r>
            <a:endParaRPr lang="en-PK" b="1" i="1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8C06570-8819-001A-079B-857BFB25629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54822871"/>
              </p:ext>
            </p:extLst>
          </p:nvPr>
        </p:nvGraphicFramePr>
        <p:xfrm>
          <a:off x="838200" y="1874520"/>
          <a:ext cx="10515600" cy="310896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3524977337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523895473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92538077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b="1" dirty="0"/>
                        <a:t>Operation</a:t>
                      </a:r>
                      <a:endParaRPr lang="en-GB" b="1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1" dirty="0"/>
                        <a:t>Description</a:t>
                      </a:r>
                      <a:endParaRPr lang="en-GB" b="1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1" dirty="0"/>
                        <a:t>Time Complexity</a:t>
                      </a:r>
                      <a:endParaRPr lang="en-GB" b="1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570150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Access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Retrieve an element at a given index.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O(1)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871556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Search (Linear)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Find an element by scanning.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O(n)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479656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Insertion (at end)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Add an element if space is available.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O(1)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13760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Insertion (at position)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Shift elements to make room.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O(n)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189588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Deletion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Shift elements to fill the gap.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O(n)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075231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Traversal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Visit every element.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O(n)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784569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466549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64FB0-E76C-EE73-26B9-6E09DD1FC9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K" b="1" i="1" dirty="0"/>
              <a:t>Array Operations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5891C3-72B5-7F31-19B3-ABD10DE216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PK" dirty="0"/>
              <a:t>Traversing multi-dimenisopnal arrays.</a:t>
            </a:r>
          </a:p>
          <a:p>
            <a:r>
              <a:rPr lang="en-PK" dirty="0"/>
              <a:t>Insertion in Array.</a:t>
            </a:r>
          </a:p>
          <a:p>
            <a:r>
              <a:rPr lang="en-PK" dirty="0"/>
              <a:t>Deletion in Array.</a:t>
            </a:r>
          </a:p>
          <a:p>
            <a:r>
              <a:rPr lang="en-PK" dirty="0"/>
              <a:t>Searching in Array.</a:t>
            </a:r>
          </a:p>
        </p:txBody>
      </p:sp>
    </p:spTree>
    <p:extLst>
      <p:ext uri="{BB962C8B-B14F-4D97-AF65-F5344CB8AC3E}">
        <p14:creationId xmlns:p14="http://schemas.microsoft.com/office/powerpoint/2010/main" val="847839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976100-24BD-BAB6-029A-C266BD5545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K" b="1" i="1" dirty="0"/>
              <a:t>Insertion in 1D Array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9BBDC5-8B94-7D38-38DD-B2BAC00A8E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2">
            <a:normAutofit fontScale="32500" lnSpcReduction="20000"/>
          </a:bodyPr>
          <a:lstStyle/>
          <a:p>
            <a:r>
              <a:rPr lang="en-GB" dirty="0"/>
              <a:t>#include &lt;iostream&gt;</a:t>
            </a:r>
          </a:p>
          <a:p>
            <a:r>
              <a:rPr lang="en-GB" dirty="0"/>
              <a:t>using namespace std;</a:t>
            </a:r>
          </a:p>
          <a:p>
            <a:endParaRPr lang="en-GB" dirty="0"/>
          </a:p>
          <a:p>
            <a:r>
              <a:rPr lang="en-GB" dirty="0"/>
              <a:t>int main() {</a:t>
            </a:r>
          </a:p>
          <a:p>
            <a:r>
              <a:rPr lang="en-GB" dirty="0"/>
              <a:t>    </a:t>
            </a:r>
            <a:r>
              <a:rPr lang="en-GB" dirty="0" err="1"/>
              <a:t>const</a:t>
            </a:r>
            <a:r>
              <a:rPr lang="en-GB" dirty="0"/>
              <a:t> int CAPACITY = 5;      // total allocated space</a:t>
            </a:r>
          </a:p>
          <a:p>
            <a:r>
              <a:rPr lang="en-GB" dirty="0"/>
              <a:t>    int A[CAPACITY] = {1, 2, 3, 4};</a:t>
            </a:r>
          </a:p>
          <a:p>
            <a:r>
              <a:rPr lang="en-GB" dirty="0"/>
              <a:t>    int size = 4;                 // actual number of elements currently stored</a:t>
            </a:r>
          </a:p>
          <a:p>
            <a:endParaRPr lang="en-GB" dirty="0"/>
          </a:p>
          <a:p>
            <a:r>
              <a:rPr lang="en-GB" dirty="0"/>
              <a:t>    int no, </a:t>
            </a:r>
            <a:r>
              <a:rPr lang="en-GB" dirty="0" err="1"/>
              <a:t>pos</a:t>
            </a:r>
            <a:r>
              <a:rPr lang="en-GB" dirty="0"/>
              <a:t>;</a:t>
            </a:r>
          </a:p>
          <a:p>
            <a:r>
              <a:rPr lang="en-GB" dirty="0"/>
              <a:t>    cout &lt;&lt; "Insertion number\n";</a:t>
            </a:r>
          </a:p>
          <a:p>
            <a:r>
              <a:rPr lang="en-GB" dirty="0"/>
              <a:t>    cin &gt;&gt; no;</a:t>
            </a:r>
          </a:p>
          <a:p>
            <a:r>
              <a:rPr lang="en-GB" dirty="0"/>
              <a:t>    cout &lt;&lt; "\</a:t>
            </a:r>
            <a:r>
              <a:rPr lang="en-GB" dirty="0" err="1"/>
              <a:t>nInsertion</a:t>
            </a:r>
            <a:r>
              <a:rPr lang="en-GB" dirty="0"/>
              <a:t> position\n";</a:t>
            </a:r>
          </a:p>
          <a:p>
            <a:r>
              <a:rPr lang="en-GB" dirty="0"/>
              <a:t>    cin &gt;&gt; </a:t>
            </a:r>
            <a:r>
              <a:rPr lang="en-GB" dirty="0" err="1"/>
              <a:t>pos</a:t>
            </a:r>
            <a:r>
              <a:rPr lang="en-GB" dirty="0"/>
              <a:t>;</a:t>
            </a:r>
          </a:p>
          <a:p>
            <a:endParaRPr lang="en-GB" dirty="0"/>
          </a:p>
          <a:p>
            <a:r>
              <a:rPr lang="en-GB" dirty="0"/>
              <a:t>    // Validate before touching memory</a:t>
            </a:r>
          </a:p>
          <a:p>
            <a:r>
              <a:rPr lang="en-GB" dirty="0"/>
              <a:t>    if (size &gt;= CAPACITY) {</a:t>
            </a:r>
          </a:p>
          <a:p>
            <a:r>
              <a:rPr lang="en-GB" dirty="0"/>
              <a:t>        cout &lt;&lt; "Array is full. Cannot insert.\n";</a:t>
            </a:r>
          </a:p>
          <a:p>
            <a:r>
              <a:rPr lang="en-GB" dirty="0"/>
              <a:t>        return 0;</a:t>
            </a:r>
          </a:p>
          <a:p>
            <a:r>
              <a:rPr lang="en-GB" dirty="0"/>
              <a:t>    }</a:t>
            </a:r>
          </a:p>
          <a:p>
            <a:r>
              <a:rPr lang="en-GB" dirty="0"/>
              <a:t>    if (</a:t>
            </a:r>
            <a:r>
              <a:rPr lang="en-GB" dirty="0" err="1"/>
              <a:t>pos</a:t>
            </a:r>
            <a:r>
              <a:rPr lang="en-GB" dirty="0"/>
              <a:t> &lt; 0 || </a:t>
            </a:r>
            <a:r>
              <a:rPr lang="en-GB" dirty="0" err="1"/>
              <a:t>pos</a:t>
            </a:r>
            <a:r>
              <a:rPr lang="en-GB" dirty="0"/>
              <a:t> &gt; size) {</a:t>
            </a:r>
          </a:p>
          <a:p>
            <a:r>
              <a:rPr lang="en-GB" dirty="0"/>
              <a:t>        cout &lt;&lt; "Invalid position.\n";</a:t>
            </a:r>
          </a:p>
          <a:p>
            <a:r>
              <a:rPr lang="en-GB" dirty="0"/>
              <a:t>        return 0;</a:t>
            </a:r>
          </a:p>
          <a:p>
            <a:r>
              <a:rPr lang="en-GB" dirty="0"/>
              <a:t>    }</a:t>
            </a:r>
          </a:p>
          <a:p>
            <a:endParaRPr lang="en-GB" dirty="0"/>
          </a:p>
          <a:p>
            <a:r>
              <a:rPr lang="en-GB" dirty="0"/>
              <a:t>    // Shift right, starting from the last occupied index</a:t>
            </a:r>
          </a:p>
          <a:p>
            <a:r>
              <a:rPr lang="en-GB" dirty="0"/>
              <a:t>    for (int </a:t>
            </a:r>
            <a:r>
              <a:rPr lang="en-GB" dirty="0" err="1"/>
              <a:t>i</a:t>
            </a:r>
            <a:r>
              <a:rPr lang="en-GB" dirty="0"/>
              <a:t> = size; </a:t>
            </a:r>
            <a:r>
              <a:rPr lang="en-GB" dirty="0" err="1"/>
              <a:t>i</a:t>
            </a:r>
            <a:r>
              <a:rPr lang="en-GB" dirty="0"/>
              <a:t> &gt; </a:t>
            </a:r>
            <a:r>
              <a:rPr lang="en-GB" dirty="0" err="1"/>
              <a:t>pos</a:t>
            </a:r>
            <a:r>
              <a:rPr lang="en-GB" dirty="0"/>
              <a:t>; </a:t>
            </a:r>
            <a:r>
              <a:rPr lang="en-GB" dirty="0" err="1"/>
              <a:t>i</a:t>
            </a:r>
            <a:r>
              <a:rPr lang="en-GB" dirty="0"/>
              <a:t>--) {</a:t>
            </a:r>
          </a:p>
          <a:p>
            <a:r>
              <a:rPr lang="en-GB" dirty="0"/>
              <a:t>        A[</a:t>
            </a:r>
            <a:r>
              <a:rPr lang="en-GB" dirty="0" err="1"/>
              <a:t>i</a:t>
            </a:r>
            <a:r>
              <a:rPr lang="en-GB" dirty="0"/>
              <a:t>] = A[</a:t>
            </a:r>
            <a:r>
              <a:rPr lang="en-GB" dirty="0" err="1"/>
              <a:t>i</a:t>
            </a:r>
            <a:r>
              <a:rPr lang="en-GB" dirty="0"/>
              <a:t> - 1];</a:t>
            </a:r>
          </a:p>
          <a:p>
            <a:r>
              <a:rPr lang="en-GB" dirty="0"/>
              <a:t>    }</a:t>
            </a:r>
          </a:p>
          <a:p>
            <a:endParaRPr lang="en-GB" dirty="0"/>
          </a:p>
          <a:p>
            <a:r>
              <a:rPr lang="en-GB" dirty="0"/>
              <a:t>    A[</a:t>
            </a:r>
            <a:r>
              <a:rPr lang="en-GB" dirty="0" err="1"/>
              <a:t>pos</a:t>
            </a:r>
            <a:r>
              <a:rPr lang="en-GB" dirty="0"/>
              <a:t>] = no;</a:t>
            </a:r>
          </a:p>
          <a:p>
            <a:r>
              <a:rPr lang="en-GB" dirty="0"/>
              <a:t>    size++;</a:t>
            </a:r>
          </a:p>
          <a:p>
            <a:endParaRPr lang="en-GB" dirty="0"/>
          </a:p>
          <a:p>
            <a:r>
              <a:rPr lang="en-GB" dirty="0"/>
              <a:t>    for (int </a:t>
            </a:r>
            <a:r>
              <a:rPr lang="en-GB" dirty="0" err="1"/>
              <a:t>i</a:t>
            </a:r>
            <a:r>
              <a:rPr lang="en-GB" dirty="0"/>
              <a:t> = 0; </a:t>
            </a:r>
            <a:r>
              <a:rPr lang="en-GB" dirty="0" err="1"/>
              <a:t>i</a:t>
            </a:r>
            <a:r>
              <a:rPr lang="en-GB" dirty="0"/>
              <a:t> &lt; size; </a:t>
            </a:r>
            <a:r>
              <a:rPr lang="en-GB" dirty="0" err="1"/>
              <a:t>i</a:t>
            </a:r>
            <a:r>
              <a:rPr lang="en-GB" dirty="0"/>
              <a:t>++) {</a:t>
            </a:r>
          </a:p>
          <a:p>
            <a:r>
              <a:rPr lang="en-GB" dirty="0"/>
              <a:t>        cout &lt;&lt; A[</a:t>
            </a:r>
            <a:r>
              <a:rPr lang="en-GB" dirty="0" err="1"/>
              <a:t>i</a:t>
            </a:r>
            <a:r>
              <a:rPr lang="en-GB" dirty="0"/>
              <a:t>] &lt;&lt; </a:t>
            </a:r>
            <a:r>
              <a:rPr lang="en-GB" dirty="0" err="1"/>
              <a:t>endl</a:t>
            </a:r>
            <a:r>
              <a:rPr lang="en-GB" dirty="0"/>
              <a:t>;</a:t>
            </a:r>
          </a:p>
          <a:p>
            <a:r>
              <a:rPr lang="en-GB" dirty="0"/>
              <a:t>    }</a:t>
            </a:r>
          </a:p>
          <a:p>
            <a:r>
              <a:rPr lang="en-GB" dirty="0"/>
              <a:t>    return 0;</a:t>
            </a:r>
          </a:p>
          <a:p>
            <a:r>
              <a:rPr lang="en-GB" dirty="0"/>
              <a:t>}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7715682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E761F2-37FB-8B61-21D1-7FB53122A6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K" b="1" i="1" dirty="0"/>
              <a:t>Deletion in 1D Array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41156E-A024-0D8D-F09C-E67D57A661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2">
            <a:normAutofit fontScale="40000" lnSpcReduction="20000"/>
          </a:bodyPr>
          <a:lstStyle/>
          <a:p>
            <a:r>
              <a:rPr lang="en-GB" dirty="0"/>
              <a:t>#include &lt;iostream&gt;</a:t>
            </a:r>
          </a:p>
          <a:p>
            <a:r>
              <a:rPr lang="en-GB" dirty="0"/>
              <a:t>using namespace std;</a:t>
            </a:r>
          </a:p>
          <a:p>
            <a:endParaRPr lang="en-GB" dirty="0"/>
          </a:p>
          <a:p>
            <a:r>
              <a:rPr lang="en-GB" dirty="0"/>
              <a:t>int main() {</a:t>
            </a:r>
          </a:p>
          <a:p>
            <a:r>
              <a:rPr lang="en-GB" dirty="0"/>
              <a:t>    </a:t>
            </a:r>
            <a:r>
              <a:rPr lang="en-GB" dirty="0" err="1"/>
              <a:t>const</a:t>
            </a:r>
            <a:r>
              <a:rPr lang="en-GB" dirty="0"/>
              <a:t> int CAPACITY = 5;      // total allocated space</a:t>
            </a:r>
          </a:p>
          <a:p>
            <a:r>
              <a:rPr lang="en-GB" dirty="0"/>
              <a:t>    int A[CAPACITY] = {1, 2, 3, 4};</a:t>
            </a:r>
          </a:p>
          <a:p>
            <a:r>
              <a:rPr lang="en-GB" dirty="0"/>
              <a:t>    int size = 4;                 // actual number of elements currently stored</a:t>
            </a:r>
          </a:p>
          <a:p>
            <a:endParaRPr lang="en-GB" dirty="0"/>
          </a:p>
          <a:p>
            <a:r>
              <a:rPr lang="en-GB" dirty="0"/>
              <a:t>    int </a:t>
            </a:r>
            <a:r>
              <a:rPr lang="en-GB" dirty="0" err="1"/>
              <a:t>pos</a:t>
            </a:r>
            <a:r>
              <a:rPr lang="en-GB" dirty="0"/>
              <a:t>;</a:t>
            </a:r>
          </a:p>
          <a:p>
            <a:r>
              <a:rPr lang="en-GB" dirty="0"/>
              <a:t>    cout &lt;&lt; "Deletion position\n";</a:t>
            </a:r>
          </a:p>
          <a:p>
            <a:r>
              <a:rPr lang="en-GB" dirty="0"/>
              <a:t>    cin &gt;&gt; </a:t>
            </a:r>
            <a:r>
              <a:rPr lang="en-GB" dirty="0" err="1"/>
              <a:t>pos</a:t>
            </a:r>
            <a:r>
              <a:rPr lang="en-GB" dirty="0"/>
              <a:t>;</a:t>
            </a:r>
          </a:p>
          <a:p>
            <a:endParaRPr lang="en-GB" dirty="0"/>
          </a:p>
          <a:p>
            <a:r>
              <a:rPr lang="en-GB" dirty="0"/>
              <a:t>    // Validate before touching memory</a:t>
            </a:r>
          </a:p>
          <a:p>
            <a:r>
              <a:rPr lang="en-GB" dirty="0"/>
              <a:t>    if (size &lt;= 0) {</a:t>
            </a:r>
          </a:p>
          <a:p>
            <a:r>
              <a:rPr lang="en-GB" dirty="0"/>
              <a:t>        cout &lt;&lt; "Array is empty. Cannot delete.\n";</a:t>
            </a:r>
          </a:p>
          <a:p>
            <a:r>
              <a:rPr lang="en-GB" dirty="0"/>
              <a:t>        return 0;</a:t>
            </a:r>
          </a:p>
          <a:p>
            <a:r>
              <a:rPr lang="en-GB" dirty="0"/>
              <a:t>    }</a:t>
            </a:r>
          </a:p>
          <a:p>
            <a:r>
              <a:rPr lang="en-GB" dirty="0"/>
              <a:t>    if (</a:t>
            </a:r>
            <a:r>
              <a:rPr lang="en-GB" dirty="0" err="1"/>
              <a:t>pos</a:t>
            </a:r>
            <a:r>
              <a:rPr lang="en-GB" dirty="0"/>
              <a:t> &lt; 0 || </a:t>
            </a:r>
            <a:r>
              <a:rPr lang="en-GB" dirty="0" err="1"/>
              <a:t>pos</a:t>
            </a:r>
            <a:r>
              <a:rPr lang="en-GB" dirty="0"/>
              <a:t> &gt;= size) {</a:t>
            </a:r>
          </a:p>
          <a:p>
            <a:r>
              <a:rPr lang="en-GB" dirty="0"/>
              <a:t>        cout &lt;&lt; "Invalid position.\n";</a:t>
            </a:r>
          </a:p>
          <a:p>
            <a:r>
              <a:rPr lang="en-GB" dirty="0"/>
              <a:t>        return 0;</a:t>
            </a:r>
          </a:p>
          <a:p>
            <a:r>
              <a:rPr lang="en-GB" dirty="0"/>
              <a:t>    }</a:t>
            </a:r>
          </a:p>
          <a:p>
            <a:endParaRPr lang="en-GB" dirty="0"/>
          </a:p>
          <a:p>
            <a:r>
              <a:rPr lang="en-GB" dirty="0"/>
              <a:t>    // Shift left, starting from the deleted position</a:t>
            </a:r>
          </a:p>
          <a:p>
            <a:r>
              <a:rPr lang="en-GB" dirty="0"/>
              <a:t>    for (int </a:t>
            </a:r>
            <a:r>
              <a:rPr lang="en-GB" dirty="0" err="1"/>
              <a:t>i</a:t>
            </a:r>
            <a:r>
              <a:rPr lang="en-GB" dirty="0"/>
              <a:t> = </a:t>
            </a:r>
            <a:r>
              <a:rPr lang="en-GB" dirty="0" err="1"/>
              <a:t>pos</a:t>
            </a:r>
            <a:r>
              <a:rPr lang="en-GB" dirty="0"/>
              <a:t>; </a:t>
            </a:r>
            <a:r>
              <a:rPr lang="en-GB" dirty="0" err="1"/>
              <a:t>i</a:t>
            </a:r>
            <a:r>
              <a:rPr lang="en-GB" dirty="0"/>
              <a:t> &lt; size - 1; </a:t>
            </a:r>
            <a:r>
              <a:rPr lang="en-GB" dirty="0" err="1"/>
              <a:t>i</a:t>
            </a:r>
            <a:r>
              <a:rPr lang="en-GB" dirty="0"/>
              <a:t>++) {</a:t>
            </a:r>
          </a:p>
          <a:p>
            <a:r>
              <a:rPr lang="en-GB" dirty="0"/>
              <a:t>        A[</a:t>
            </a:r>
            <a:r>
              <a:rPr lang="en-GB" dirty="0" err="1"/>
              <a:t>i</a:t>
            </a:r>
            <a:r>
              <a:rPr lang="en-GB" dirty="0"/>
              <a:t>] = A[</a:t>
            </a:r>
            <a:r>
              <a:rPr lang="en-GB" dirty="0" err="1"/>
              <a:t>i</a:t>
            </a:r>
            <a:r>
              <a:rPr lang="en-GB" dirty="0"/>
              <a:t> + 1];</a:t>
            </a:r>
          </a:p>
          <a:p>
            <a:r>
              <a:rPr lang="en-GB" dirty="0"/>
              <a:t>    }</a:t>
            </a:r>
          </a:p>
          <a:p>
            <a:endParaRPr lang="en-GB" dirty="0"/>
          </a:p>
          <a:p>
            <a:r>
              <a:rPr lang="en-GB" dirty="0"/>
              <a:t>    size--;   // logical size shrinks; no need to zero out A[size]</a:t>
            </a:r>
          </a:p>
          <a:p>
            <a:endParaRPr lang="en-GB" dirty="0"/>
          </a:p>
          <a:p>
            <a:r>
              <a:rPr lang="en-GB" dirty="0"/>
              <a:t>    for (int </a:t>
            </a:r>
            <a:r>
              <a:rPr lang="en-GB" dirty="0" err="1"/>
              <a:t>i</a:t>
            </a:r>
            <a:r>
              <a:rPr lang="en-GB" dirty="0"/>
              <a:t> = 0; </a:t>
            </a:r>
            <a:r>
              <a:rPr lang="en-GB" dirty="0" err="1"/>
              <a:t>i</a:t>
            </a:r>
            <a:r>
              <a:rPr lang="en-GB" dirty="0"/>
              <a:t> &lt; size; </a:t>
            </a:r>
            <a:r>
              <a:rPr lang="en-GB" dirty="0" err="1"/>
              <a:t>i</a:t>
            </a:r>
            <a:r>
              <a:rPr lang="en-GB" dirty="0"/>
              <a:t>++) {</a:t>
            </a:r>
          </a:p>
          <a:p>
            <a:r>
              <a:rPr lang="en-GB" dirty="0"/>
              <a:t>        cout &lt;&lt; A[</a:t>
            </a:r>
            <a:r>
              <a:rPr lang="en-GB" dirty="0" err="1"/>
              <a:t>i</a:t>
            </a:r>
            <a:r>
              <a:rPr lang="en-GB" dirty="0"/>
              <a:t>] &lt;&lt; </a:t>
            </a:r>
            <a:r>
              <a:rPr lang="en-GB" dirty="0" err="1"/>
              <a:t>endl</a:t>
            </a:r>
            <a:r>
              <a:rPr lang="en-GB" dirty="0"/>
              <a:t>;</a:t>
            </a:r>
          </a:p>
          <a:p>
            <a:r>
              <a:rPr lang="en-GB" dirty="0"/>
              <a:t>    }</a:t>
            </a:r>
          </a:p>
          <a:p>
            <a:r>
              <a:rPr lang="en-GB" dirty="0"/>
              <a:t>    return 0;</a:t>
            </a:r>
          </a:p>
          <a:p>
            <a:r>
              <a:rPr lang="en-GB" dirty="0"/>
              <a:t>}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32557074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0A288-4AAF-BF30-C103-990037D07C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K" b="1" i="1" dirty="0"/>
              <a:t>Practice 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EE804E-7572-4EC0-0D07-9E65DC54F5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Write a program to insert a value into a sorted array such that the array remains sorted after insertion (find the correct position automatically - don't ask the user for it).</a:t>
            </a:r>
          </a:p>
          <a:p>
            <a:r>
              <a:rPr lang="en-GB" dirty="0"/>
              <a:t>Write a program to delete all occurrences of a given value from an array (not just the first one found).</a:t>
            </a:r>
          </a:p>
          <a:p>
            <a:pPr lvl="1"/>
            <a:r>
              <a:rPr lang="en-GB" dirty="0"/>
              <a:t>{11,35,24,11,15,17,11,19,11}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1843297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BB737F4-0E24-92C2-3AB6-A1E7A362B039}"/>
              </a:ext>
            </a:extLst>
          </p:cNvPr>
          <p:cNvSpPr txBox="1">
            <a:spLocks/>
          </p:cNvSpPr>
          <p:nvPr/>
        </p:nvSpPr>
        <p:spPr>
          <a:xfrm>
            <a:off x="838200" y="2864385"/>
            <a:ext cx="10515600" cy="15754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PK" sz="6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Any Questions?</a:t>
            </a:r>
          </a:p>
        </p:txBody>
      </p:sp>
    </p:spTree>
    <p:extLst>
      <p:ext uri="{BB962C8B-B14F-4D97-AF65-F5344CB8AC3E}">
        <p14:creationId xmlns:p14="http://schemas.microsoft.com/office/powerpoint/2010/main" val="39938269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C764B33-882A-32B8-7F73-E22BD1AF9CCC}"/>
              </a:ext>
            </a:extLst>
          </p:cNvPr>
          <p:cNvSpPr txBox="1">
            <a:spLocks/>
          </p:cNvSpPr>
          <p:nvPr/>
        </p:nvSpPr>
        <p:spPr>
          <a:xfrm>
            <a:off x="838200" y="2864385"/>
            <a:ext cx="10515600" cy="15754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PK" sz="6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662620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</TotalTime>
  <Words>1102</Words>
  <Application>Microsoft Macintosh PowerPoint</Application>
  <PresentationFormat>Widescreen</PresentationFormat>
  <Paragraphs>162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Times New Roman</vt:lpstr>
      <vt:lpstr>Office Theme</vt:lpstr>
      <vt:lpstr>Data Structures</vt:lpstr>
      <vt:lpstr>What is an Array?</vt:lpstr>
      <vt:lpstr>Why Arrays Matter</vt:lpstr>
      <vt:lpstr>Array Declaration and Initialization</vt:lpstr>
      <vt:lpstr>Memory Representation</vt:lpstr>
      <vt:lpstr>Accessing and Traversing an Array</vt:lpstr>
      <vt:lpstr>Practice Questions</vt:lpstr>
      <vt:lpstr>Basic Array Operations</vt:lpstr>
      <vt:lpstr>Array Operations</vt:lpstr>
      <vt:lpstr>Insertion in 1D Array</vt:lpstr>
      <vt:lpstr>Deletion in 1D Array</vt:lpstr>
      <vt:lpstr>Practice Questions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Object-Oriented Programming</dc:title>
  <dc:creator>Microsoft Office User</dc:creator>
  <cp:lastModifiedBy>Microsoft Office User</cp:lastModifiedBy>
  <cp:revision>6</cp:revision>
  <dcterms:created xsi:type="dcterms:W3CDTF">2026-07-17T16:00:13Z</dcterms:created>
  <dcterms:modified xsi:type="dcterms:W3CDTF">2026-09-13T07:03:44Z</dcterms:modified>
</cp:coreProperties>
</file>