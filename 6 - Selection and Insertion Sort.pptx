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00" r:id="rId2"/>
    <p:sldId id="401" r:id="rId3"/>
    <p:sldId id="402" r:id="rId4"/>
    <p:sldId id="403" r:id="rId7"/>
    <p:sldId id="404" r:id="rId11"/>
    <p:sldId id="405" r:id="rId6"/>
    <p:sldId id="406" r:id="rId9"/>
    <p:sldId id="407" r:id="rId5"/>
    <p:sldId id="408" r:id="rId8"/>
    <p:sldId id="409" r:id="rId12"/>
    <p:sldId id="410" r:id="rId24"/>
    <p:sldId id="411" r:id="rId20"/>
    <p:sldId id="412" r:id="rId21"/>
    <p:sldId id="413" r:id="rId22"/>
    <p:sldId id="414" r:id="rId23"/>
    <p:sldId id="415" r:id="rId10"/>
    <p:sldId id="416" r:id="rId14"/>
    <p:sldId id="417" r:id="rId15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48"/>
  </p:normalViewPr>
  <p:slideViewPr>
    <p:cSldViewPr snapToGrid="0">
      <p:cViewPr varScale="1">
        <p:scale>
          <a:sx n="116" d="100"/>
          <a:sy n="116" d="100"/>
        </p:scale>
        <p:origin x="20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  <Relationship Id="rId20" Type="http://schemas.openxmlformats.org/officeDocument/2006/relationships/slide" Target="slides/slide15.xml"/>
  <Relationship Id="rId21" Type="http://schemas.openxmlformats.org/officeDocument/2006/relationships/slide" Target="slides/slide16.xml"/>
  <Relationship Id="rId22" Type="http://schemas.openxmlformats.org/officeDocument/2006/relationships/slide" Target="slides/slide17.xml"/>
  <Relationship Id="rId23" Type="http://schemas.openxmlformats.org/officeDocument/2006/relationships/slide" Target="slides/slide18.xml"/>
  <Relationship Id="rId24" Type="http://schemas.openxmlformats.org/officeDocument/2006/relationships/slide" Target="slides/slide19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74A6-3486-CEBB-7B3C-A0D8D7404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2772E-6BF2-07BC-A123-1E14A7A57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908D5-1EBC-B314-CD17-F710D36C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C1FCA-FC01-1A25-F163-3AE086E89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511B0-D414-AFE8-55F9-DD3D9919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229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D55C-0889-7BF1-ED09-068AD543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2D896-E10B-B7DA-8ED6-A75CF9E33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63BA5-FD8D-7D66-3FF9-FC52F8B1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E0EE3-12C2-E477-B55C-F3522575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BE645-FF5D-28AE-9C60-D8CE6D57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02468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2605-1099-8D96-42AC-BAF5114A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0EFE4-8D9A-AAC5-51AF-5AEFD3E60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EEDB1-408E-81B1-DCDD-47CFBAB0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65684-6FAB-EB39-B4B3-32F2CF97E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4839F-A15C-B52F-C060-1F4E2F96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243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677E-443C-1372-4DA2-82BF5FB5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8DC6B-0882-D1AA-9067-00DA92311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6EEF1-350D-8169-B11C-B4526887B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6A852-0831-3634-88FE-D168ADA64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17E0B-CF33-066A-F303-DCE85088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428FC-579B-7136-C517-60FD74B5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67284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CA0E-D9E9-2832-EA04-50415929C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34A9D-4197-DD71-1593-D5FC646B0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D7CB1-5DFD-F1C0-280A-408A3D396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07FEA-87B8-E257-D937-B8DD1FD91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C0A731-F7AE-6170-556C-FC33E4A82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5A504-606E-38AE-AD4A-02E21F4DC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258D57-22D0-48D2-A0B0-52CD18AF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28C1C7-D1FC-BD99-195D-46EBC997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281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333C-9180-7F02-0975-EB604602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BC407-B6A0-2C6C-9861-617ED338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A43D5-908E-A819-B4D6-71231101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67765-88B4-53BE-FB18-1BA002D6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907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2C2FE-9C39-2697-967E-79D60C4F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6E2B1-F99A-CA39-AB3D-774523DA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93E33-02D7-77E5-4A05-0EFC58D1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430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2E82-C82F-DA1C-B68A-52024C23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B2E36-2BF7-C552-BF94-A246C81F3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6278C-8DE4-60A1-C942-C52178EDD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06CD0-D943-4F68-B733-850CD7B22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730A8-BED5-6566-8938-0191AA838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47DB4-9666-D112-8BE7-0487D50F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80466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47B1-2162-ADFD-AD1D-91A13732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2F9E4-651F-4ABE-2B05-CDC5BFA71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42846-B684-CBCC-0518-34138420A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3F6B4-9E15-1580-F8E9-4B7EAD33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02D62-B57E-02D4-39B8-57B08AB1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195C1-F4B4-138C-FE72-3884CA32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6705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3BD72-38C5-DFA2-28CA-2A01DE38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FEFBE-1C46-DE61-DD8D-ACA049D26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51CFE-92D2-E19C-8773-180B6526C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A9927-B32F-ADF3-B1DE-C032493E5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672E8-EFD5-878D-EAC8-C2EA47A5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69333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8F3B9-E62D-DD81-AA7F-31DDBA2B6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307DB-8D97-992C-1DA3-1A7BA616C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4DC32-2782-6B94-F2E0-678477737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FB17B-ECC4-2725-0442-DE14676F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395DC-CFE8-5C81-E504-01691928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5860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6E4CF7-BC1E-6FB6-5522-2AC188A6D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8B65F-F070-67BC-E9A0-38B45928C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E9B9C-174B-870D-D462-5902FDFC6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38EF3D54-E75F-4C46-B59C-5FBC42FC52BD}" type="datetimeFigureOut">
              <a:rPr lang="en-PK" smtClean="0"/>
              <a:pPr/>
              <a:t>13/09/2026</a:t>
            </a:fld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37645-3BCE-0FDA-61B8-FD168DBE0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C82DE-6318-99DF-B090-F4FB4FF4F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ADB765D4-72FA-AA48-A287-0E865C8234E9}" type="slidenum">
              <a:rPr lang="en-PK" smtClean="0"/>
              <a:pPr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726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EA65-A08C-0C4C-54E9-A686CB423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715" y="1041400"/>
            <a:ext cx="10168569" cy="2387600"/>
          </a:xfrm>
        </p:spPr>
        <p:txBody>
          <a:bodyPr/>
          <a:lstStyle/>
          <a:p>
            <a:r>
              <a:rPr lang="en-PK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64B5B-AB60-D6AB-2E5B-1A3A46311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7463"/>
            <a:ext cx="9144000" cy="1655762"/>
          </a:xfrm>
        </p:spPr>
        <p:txBody>
          <a:bodyPr>
            <a:normAutofit/>
          </a:bodyPr>
          <a:lstStyle/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Sort and Insertion Sort</a:t>
            </a: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Algorithms Laboratory</a:t>
            </a: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Management Sciences, Peshawar, Pakistan</a:t>
            </a:r>
          </a:p>
        </p:txBody>
      </p:sp>
    </p:spTree>
    <p:extLst>
      <p:ext uri="{BB962C8B-B14F-4D97-AF65-F5344CB8AC3E}">
        <p14:creationId xmlns:p14="http://schemas.microsoft.com/office/powerpoint/2010/main" val="311682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Recap – Why Multiple Sorting Algorithms?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Different sorting algorithms make different trade-offs between simplicity, speed, and memory usage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Selection Sort - finds the minimum and places it directly; fewest swaps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Insertion Sort - builds the sorted array one element at a time; excels on nearly-sorted data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Both are simple, comparison-based, in-place algorithms - good starting points before moving to divide-and-conquer approaches like Merge Sort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Selection Sort – The Idea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Divide the array into a sorted part (left) and an unsorted part (right)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Repeatedly find the minimum element in the unsorted part and swap it into the correct position at the end of the sorted part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After n-1 passes, the entire array is sorted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Analogy: Repeatedly picking the shortest student from a lineup and placing them at the front - one selection per pass.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Transition – Insertion Sort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Selection Sort always scans the full unsorted part, even if the array is nearly sorted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Insertion Sort takes a different approach: it builds the sorted array incrementally, inserting each new element into its correct position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Analogy: Sorting playing cards in your hand - you pick up one card at a time and insert it into its correct position among the cards you're already holding.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Selection Sort – Dry Run</a:t>
            </a:r>
            <a:endParaRPr lang="en-PK" b="1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74520"/>
          <a:ext cx="10515600" cy="3108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Pass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Minimum Found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Array After Swap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Start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—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29, 10, 14, 37, 13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Pass 1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10 (index 1)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10, 29, 14, 37, 13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Pass 2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13 (index 4)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10, 13, 14, 37, 29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Pass 3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14 (already in place)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10, 13, 14, 37, 29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Pass 4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29 (index 4)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10, 13, 14, 29, 37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Selection Sort – Algorithm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dirty="0"/>
              <a:t>Algorithm: SelectionSort(A, n)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1. For i = 0 to n-2:</a:t>
            </a:r>
          </a:p>
          <a:p>
            <a:pPr marL="0" indent="0">
              <a:buNone/>
            </a:pPr>
            <a:r>
              <a:rPr lang="en-GB" dirty="0"/>
              <a:t>       minIndex = i</a:t>
            </a:r>
          </a:p>
          <a:p>
            <a:pPr marL="0" indent="0">
              <a:buNone/>
            </a:pPr>
            <a:r>
              <a:rPr lang="en-GB" dirty="0"/>
              <a:t>       For j = i+1 to n-1:</a:t>
            </a:r>
          </a:p>
          <a:p>
            <a:pPr marL="0" indent="0">
              <a:buNone/>
            </a:pPr>
            <a:r>
              <a:rPr lang="en-GB" dirty="0"/>
              <a:t>           If A[j] &lt; A[minIndex]:</a:t>
            </a:r>
          </a:p>
          <a:p>
            <a:pPr marL="0" indent="0">
              <a:buNone/>
            </a:pPr>
            <a:r>
              <a:rPr lang="en-GB" dirty="0"/>
              <a:t>               minIndex = j</a:t>
            </a:r>
          </a:p>
          <a:p>
            <a:pPr marL="0" indent="0">
              <a:buNone/>
            </a:pPr>
            <a:r>
              <a:rPr lang="en-GB" dirty="0"/>
              <a:t>       Swap A[i] and A[minIndex]</a:t>
            </a:r>
          </a:p>
          <a:p>
            <a:pPr marL="0" indent="0">
              <a:buNone/>
            </a:pPr>
            <a:r>
              <a:rPr lang="en-GB" dirty="0"/>
              <a:t>2. Array is sorted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Insertion Sort – The Idea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Start with the second element - treat the first element as a trivially "sorted" subarray of size 1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Take the next element (the key) and shift larger elements in the sorted part one position right to make room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Insert the key into its correct position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Repeat for every remaining element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Selection Sort – Complexity</a:t>
            </a:r>
            <a:endParaRPr lang="en-PK" b="1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74520"/>
          <a:ext cx="10515600" cy="3108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Case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Scenario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Time Complexity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Best Case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Already sorted - still scans everything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O(n²)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Worst Case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Reverse sorted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O(n²)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Average Case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Random order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O(n²)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Space Complexity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In-place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O(1)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Summary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Selection Sort repeatedly picks the minimum from the unsorted part - always O(n²), but minimizes swaps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Insertion Sort builds the sorted array incrementally by shifting and inserting - O(n) best case, making it efficient for nearly-sorted data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Both are simple, in-place algorithms suited to small datasets; Insertion Sort is generally preferred over Selection Sort when adaptivity matters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These foundational algorithms set up the motivation for faster divide-and-conquer sorts like Merge Sort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Selection Sort – C++ Code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dirty="0"/>
              <a:t>void selectionSort(int arr[], int n) {</a:t>
            </a:r>
          </a:p>
          <a:p>
            <a:pPr marL="0" indent="0">
              <a:buNone/>
            </a:pPr>
            <a:r>
              <a:rPr lang="en-GB" dirty="0"/>
              <a:t>    for (int i = 0; i &lt; n - 1; i++) {</a:t>
            </a:r>
          </a:p>
          <a:p>
            <a:pPr marL="0" indent="0">
              <a:buNone/>
            </a:pPr>
            <a:r>
              <a:rPr lang="en-GB" dirty="0"/>
              <a:t>        int minIndex = i;</a:t>
            </a:r>
          </a:p>
          <a:p>
            <a:pPr marL="0" indent="0">
              <a:buNone/>
            </a:pPr>
            <a:r>
              <a:rPr lang="en-GB" dirty="0"/>
              <a:t>        for (int j = i + 1; j &lt; n; j++) {</a:t>
            </a:r>
          </a:p>
          <a:p>
            <a:pPr marL="0" indent="0">
              <a:buNone/>
            </a:pPr>
            <a:r>
              <a:rPr lang="en-GB" dirty="0"/>
              <a:t>            if (arr[j] &lt; arr[minIndex])</a:t>
            </a:r>
          </a:p>
          <a:p>
            <a:pPr marL="0" indent="0">
              <a:buNone/>
            </a:pPr>
            <a:r>
              <a:rPr lang="en-GB" dirty="0"/>
              <a:t>                minIndex = j;</a:t>
            </a:r>
          </a:p>
          <a:p>
            <a:pPr marL="0" indent="0">
              <a:buNone/>
            </a:pPr>
            <a:r>
              <a:rPr lang="en-GB" dirty="0"/>
              <a:t>        }</a:t>
            </a:r>
          </a:p>
          <a:p>
            <a:pPr marL="0" indent="0">
              <a:buNone/>
            </a:pPr>
            <a:r>
              <a:rPr lang="en-GB" dirty="0"/>
              <a:t>        int temp = arr[i];</a:t>
            </a:r>
          </a:p>
          <a:p>
            <a:pPr marL="0" indent="0">
              <a:buNone/>
            </a:pPr>
            <a:r>
              <a:rPr lang="en-GB" dirty="0"/>
              <a:t>        arr[i] = arr[minIndex];</a:t>
            </a:r>
          </a:p>
          <a:p>
            <a:pPr marL="0" indent="0">
              <a:buNone/>
            </a:pPr>
            <a:r>
              <a:rPr lang="en-GB" dirty="0"/>
              <a:t>        arr[minIndex] = temp;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Insertion Sort – Algorithm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 fontScale="80000" lnSpcReduction="10000"/>
          </a:bodyPr>
          <a:lstStyle/>
          <a:p>
            <a:pPr marL="0" indent="0">
              <a:buNone/>
            </a:pPr>
            <a:r>
              <a:rPr lang="en-GB" dirty="0"/>
              <a:t>Algorithm: InsertionSort(A, n)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1. For i = 1 to n-1:</a:t>
            </a:r>
          </a:p>
          <a:p>
            <a:pPr marL="0" indent="0">
              <a:buNone/>
            </a:pPr>
            <a:r>
              <a:rPr lang="en-GB" dirty="0"/>
              <a:t>       key = A[i]</a:t>
            </a:r>
          </a:p>
          <a:p>
            <a:pPr marL="0" indent="0">
              <a:buNone/>
            </a:pPr>
            <a:r>
              <a:rPr lang="en-GB" dirty="0"/>
              <a:t>       j = i - 1</a:t>
            </a:r>
          </a:p>
          <a:p>
            <a:pPr marL="0" indent="0">
              <a:buNone/>
            </a:pPr>
            <a:r>
              <a:rPr lang="en-GB" dirty="0"/>
              <a:t>       While j &gt;= 0 and A[j] &gt; key:</a:t>
            </a:r>
          </a:p>
          <a:p>
            <a:pPr marL="0" indent="0">
              <a:buNone/>
            </a:pPr>
            <a:r>
              <a:rPr lang="en-GB" dirty="0"/>
              <a:t>           A[j+1] = A[j]      // shift right</a:t>
            </a:r>
          </a:p>
          <a:p>
            <a:pPr marL="0" indent="0">
              <a:buNone/>
            </a:pPr>
            <a:r>
              <a:rPr lang="en-GB" dirty="0"/>
              <a:t>           j = j - 1</a:t>
            </a:r>
          </a:p>
          <a:p>
            <a:pPr marL="0" indent="0">
              <a:buNone/>
            </a:pPr>
            <a:r>
              <a:rPr lang="en-GB" dirty="0"/>
              <a:t>       A[j+1] = key           // insert key</a:t>
            </a:r>
          </a:p>
          <a:p>
            <a:pPr marL="0" indent="0">
              <a:buNone/>
            </a:pPr>
            <a:r>
              <a:rPr lang="en-GB" dirty="0"/>
              <a:t>2. Array is sorted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0A288-4AAF-BF30-C103-990037D07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i="1" dirty="0"/>
              <a:t>Practice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E804E-7572-4EC0-0D07-9E65DC54F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Write a program to insert a value into a sorted array such that the array remains sorted after insertion (find the correct position automatically - don't ask the user for it).</a:t>
            </a:r>
          </a:p>
          <a:p>
            <a:r>
              <a:rPr lang="en-GB" dirty="0"/>
              <a:t>Write a program to delete all occurrences of a given value from an array (not just the first one found).</a:t>
            </a:r>
          </a:p>
          <a:p>
            <a:pPr lvl="1"/>
            <a:r>
              <a:rPr lang="en-GB" dirty="0"/>
              <a:t>{11,35,24,11,15,17,11,19,11}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84329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737F4-0E24-92C2-3AB6-A1E7A362B039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93826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764B33-882A-32B8-7F73-E22BD1AF9CCC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6262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Insertion Sort – Dry Run</a:t>
            </a:r>
            <a:endParaRPr lang="en-PK" b="1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74520"/>
          <a:ext cx="10515600" cy="3108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Step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key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Array State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Start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—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12, 11, 13, 5, 6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i=1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11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11, 12, 13, 5, 6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i=2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13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11, 12, 13, 5, 6  (no shift needed)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i=3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5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5, 11, 12, 13, 6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i=4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6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5, 6, 11, 12, 13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Insertion Sort – Complexity</a:t>
            </a:r>
            <a:endParaRPr lang="en-PK" b="1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74520"/>
          <a:ext cx="10515600" cy="3108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Case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Scenario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Time Complexity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Best Case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Already sorted - inner loop never shifts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Worst Case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Reverse sorted - maximum shifting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O(n²)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Average Case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Random order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O(n²)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Space Complexity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In-place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O(1)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Selection Sort vs Insertion Sort</a:t>
            </a:r>
            <a:endParaRPr lang="en-PK" b="1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600000"/>
          <a:ext cx="10515600" cy="340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Aspect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Selection Sort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Insertion Sort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Approach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Find minimum, place at front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Shift and insert into sorted part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Time (Best)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O(n²) – no early exit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O(n) – adapts to sorted data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Time (Worst)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O(n²)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O(n²)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Number of Swaps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At most n-1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Can be many (one shift per comparison)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Stability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Not stable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Stable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Best for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Minimizing swaps (costly writes)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Nearly-sorted or small datasets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Where These Fit – The Bigger Picture</a:t>
            </a:r>
            <a:endParaRPr lang="en-PK" b="1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74520"/>
          <a:ext cx="10515600" cy="3108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Algorithm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Best Case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Worst Case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Adapts to Sorted Input?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Selection Sort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O(n²)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O(n²)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No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Insertion Sort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O(n²)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Yes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Bubble Sort (optimized)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O(n²)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Yes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Merge Sort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 log n)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 log n)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No (always splits fully)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Insertion Sort – C++ Code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 fontScale="78000" lnSpcReduction="12000"/>
          </a:bodyPr>
          <a:lstStyle/>
          <a:p>
            <a:pPr marL="0" indent="0">
              <a:buNone/>
            </a:pPr>
            <a:r>
              <a:rPr lang="en-GB" dirty="0"/>
              <a:t>void insertionSort(int arr[], int n) {</a:t>
            </a:r>
          </a:p>
          <a:p>
            <a:pPr marL="0" indent="0">
              <a:buNone/>
            </a:pPr>
            <a:r>
              <a:rPr lang="en-GB" dirty="0"/>
              <a:t>    for (int i = 1; i &lt; n; i++) {</a:t>
            </a:r>
          </a:p>
          <a:p>
            <a:pPr marL="0" indent="0">
              <a:buNone/>
            </a:pPr>
            <a:r>
              <a:rPr lang="en-GB" dirty="0"/>
              <a:t>        int key = arr[i];</a:t>
            </a:r>
          </a:p>
          <a:p>
            <a:pPr marL="0" indent="0">
              <a:buNone/>
            </a:pPr>
            <a:r>
              <a:rPr lang="en-GB" dirty="0"/>
              <a:t>        int j = i - 1;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    while (j &gt;= 0 &amp;&amp; arr[j] &gt; key) {</a:t>
            </a:r>
          </a:p>
          <a:p>
            <a:pPr marL="0" indent="0">
              <a:buNone/>
            </a:pPr>
            <a:r>
              <a:rPr lang="en-GB" dirty="0"/>
              <a:t>            arr[j + 1] = arr[j];   // shift right</a:t>
            </a:r>
          </a:p>
          <a:p>
            <a:pPr marL="0" indent="0">
              <a:buNone/>
            </a:pPr>
            <a:r>
              <a:rPr lang="en-GB" dirty="0"/>
              <a:t>            j--;</a:t>
            </a:r>
          </a:p>
          <a:p>
            <a:pPr marL="0" indent="0">
              <a:buNone/>
            </a:pPr>
            <a:r>
              <a:rPr lang="en-GB" dirty="0"/>
              <a:t>        }</a:t>
            </a:r>
          </a:p>
          <a:p>
            <a:pPr marL="0" indent="0">
              <a:buNone/>
            </a:pPr>
            <a:r>
              <a:rPr lang="en-GB" dirty="0"/>
              <a:t>        arr[j + 1] = key;          // insert key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1102</Words>
  <Application>Microsoft Macintosh PowerPoint</Application>
  <PresentationFormat>Widescreen</PresentationFormat>
  <Paragraphs>162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Times New Roman</vt:lpstr>
      <vt:lpstr>Office Theme</vt:lpstr>
      <vt:lpstr>Data Structures</vt:lpstr>
      <vt:lpstr>What is an Array?</vt:lpstr>
      <vt:lpstr>Why Arrays Matter</vt:lpstr>
      <vt:lpstr>Array Declaration and Initialization</vt:lpstr>
      <vt:lpstr>Memory Representation</vt:lpstr>
      <vt:lpstr>Accessing and Traversing an Array</vt:lpstr>
      <vt:lpstr>Practice Questions</vt:lpstr>
      <vt:lpstr>Basic Array Operations</vt:lpstr>
      <vt:lpstr>Array Operations</vt:lpstr>
      <vt:lpstr>Insertion in 1D Array</vt:lpstr>
      <vt:lpstr>Deletion in 1D Array</vt:lpstr>
      <vt:lpstr>Practice Questions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Microsoft Office User</dc:creator>
  <cp:lastModifiedBy>Microsoft Office User</cp:lastModifiedBy>
  <cp:revision>6</cp:revision>
  <dcterms:created xsi:type="dcterms:W3CDTF">2026-07-17T16:00:13Z</dcterms:created>
  <dcterms:modified xsi:type="dcterms:W3CDTF">2026-09-13T07:03:44Z</dcterms:modified>
</cp:coreProperties>
</file>