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8" r:id="rId11"/>
    <p:sldId id="319" r:id="rId12"/>
    <p:sldId id="320" r:id="rId13"/>
    <p:sldId id="321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48"/>
  </p:normalViewPr>
  <p:slideViewPr>
    <p:cSldViewPr snapToGrid="0">
      <p:cViewPr varScale="1">
        <p:scale>
          <a:sx n="66" d="100"/>
          <a:sy n="66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10/15/2026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10/15/2026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cs typeface="Times New Roman" panose="02020603050405020304" pitchFamily="18" charset="0"/>
              </a:rPr>
              <a:t>School of CS &amp; IT</a:t>
            </a:r>
            <a:endParaRPr lang="en-PK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The Idea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Divide: Split the array into two halves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Conquer: Recursively sort each half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Combine: Merge the two sorted halves back into a single sorted array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real work happens in the merge step - combining two already-sorted arrays into one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Algorithm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9500"/>
          </a:bodyPr>
          <a:lstStyle/>
          <a:p>
            <a:pPr marL="0" indent="0">
              <a:buNone/>
            </a:pPr>
            <a:r>
              <a:rPr lang="en-GB" dirty="0"/>
              <a:t>Algorithm: MergeSort(A, left, right)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If left &lt; right:</a:t>
            </a:r>
          </a:p>
          <a:p>
            <a:pPr marL="0" indent="0">
              <a:buNone/>
            </a:pPr>
            <a:r>
              <a:rPr lang="en-GB" dirty="0"/>
              <a:t>       mid = (left + right) / 2</a:t>
            </a:r>
          </a:p>
          <a:p>
            <a:pPr marL="0" indent="0">
              <a:buNone/>
            </a:pPr>
            <a:r>
              <a:rPr lang="en-GB" dirty="0"/>
              <a:t>       MergeSort(A, left, mid)         // sort left half</a:t>
            </a:r>
          </a:p>
          <a:p>
            <a:pPr marL="0" indent="0">
              <a:buNone/>
            </a:pPr>
            <a:r>
              <a:rPr lang="en-GB" dirty="0"/>
              <a:t>       MergeSort(A, mid+1, right)      // sort right half</a:t>
            </a:r>
          </a:p>
          <a:p>
            <a:pPr marL="0" indent="0">
              <a:buNone/>
            </a:pPr>
            <a:r>
              <a:rPr lang="en-GB" dirty="0"/>
              <a:t>       Merge(A, left, mid, right)      // combine both halves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The Merge Step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9500"/>
          </a:bodyPr>
          <a:lstStyle/>
          <a:p>
            <a:pPr marL="0" indent="0">
              <a:buNone/>
            </a:pPr>
            <a:r>
              <a:rPr lang="en-GB" dirty="0"/>
              <a:t>Algorithm: Merge(A, left, mid, right)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Create temp arrays L (left half) and R (right half)</a:t>
            </a:r>
          </a:p>
          <a:p>
            <a:pPr marL="0" indent="0">
              <a:buNone/>
            </a:pPr>
            <a:r>
              <a:rPr lang="en-GB" dirty="0"/>
              <a:t>2. Compare elements from L and R one by one,</a:t>
            </a:r>
          </a:p>
          <a:p>
            <a:pPr marL="0" indent="0">
              <a:buNone/>
            </a:pPr>
            <a:r>
              <a:rPr lang="en-GB" dirty="0"/>
              <a:t>   placing the smaller into A in order</a:t>
            </a:r>
          </a:p>
          <a:p>
            <a:pPr marL="0" indent="0">
              <a:buNone/>
            </a:pPr>
            <a:r>
              <a:rPr lang="en-GB" dirty="0"/>
              <a:t>3. Copy any remaining elements from L or R into A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C++ Code (Merge Function)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65000" lnSpcReduction="20000"/>
          </a:bodyPr>
          <a:lstStyle/>
          <a:p>
            <a:pPr marL="0" indent="0">
              <a:buNone/>
            </a:pPr>
            <a:r>
              <a:rPr lang="en-GB" dirty="0"/>
              <a:t>void merge(int arr[], int left, int mid, int right) {</a:t>
            </a:r>
          </a:p>
          <a:p>
            <a:pPr marL="0" indent="0">
              <a:buNone/>
            </a:pPr>
            <a:r>
              <a:rPr lang="en-GB" dirty="0"/>
              <a:t>    int n1 = mid - left + 1, n2 = right - mid;</a:t>
            </a:r>
          </a:p>
          <a:p>
            <a:pPr marL="0" indent="0">
              <a:buNone/>
            </a:pPr>
            <a:r>
              <a:rPr lang="en-GB" dirty="0"/>
              <a:t>    int L[n1], R[n2];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for (int i = 0; i &lt; n1; i++) L[i] = arr[left + i];</a:t>
            </a:r>
          </a:p>
          <a:p>
            <a:pPr marL="0" indent="0">
              <a:buNone/>
            </a:pPr>
            <a:r>
              <a:rPr lang="en-GB" dirty="0"/>
              <a:t>    for (int j = 0; j &lt; n2; j++) R[j] = arr[mid + 1 + j];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int i = 0, j = 0, k = left;</a:t>
            </a:r>
          </a:p>
          <a:p>
            <a:pPr marL="0" indent="0">
              <a:buNone/>
            </a:pPr>
            <a:r>
              <a:rPr lang="en-GB" dirty="0"/>
              <a:t>    while (i &lt; n1 &amp;&amp; j &lt; n2) {</a:t>
            </a:r>
          </a:p>
          <a:p>
            <a:pPr marL="0" indent="0">
              <a:buNone/>
            </a:pPr>
            <a:r>
              <a:rPr lang="en-GB" dirty="0"/>
              <a:t>        if (L[i] &lt;= R[j]) arr[k++] = L[i++];</a:t>
            </a:r>
          </a:p>
          <a:p>
            <a:pPr marL="0" indent="0">
              <a:buNone/>
            </a:pPr>
            <a:r>
              <a:rPr lang="en-GB" dirty="0"/>
              <a:t>        else arr[k++] = R[j++];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while (i &lt; n1) arr[k++] = L[i++];</a:t>
            </a:r>
          </a:p>
          <a:p>
            <a:pPr marL="0" indent="0">
              <a:buNone/>
            </a:pPr>
            <a:r>
              <a:rPr lang="en-GB" dirty="0"/>
              <a:t>    while (j &lt; n2) arr[k++] = R[j++];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C++ Code (Recursive Driver)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void mergeSort(int arr[], int left, int right) {</a:t>
            </a:r>
          </a:p>
          <a:p>
            <a:pPr marL="0" indent="0">
              <a:buNone/>
            </a:pPr>
            <a:r>
              <a:rPr lang="en-GB" dirty="0"/>
              <a:t>    if (left &lt; right) {</a:t>
            </a:r>
          </a:p>
          <a:p>
            <a:pPr marL="0" indent="0">
              <a:buNone/>
            </a:pPr>
            <a:r>
              <a:rPr lang="en-GB" dirty="0"/>
              <a:t>        int mid = left + (right - left) / 2;</a:t>
            </a:r>
          </a:p>
          <a:p>
            <a:pPr marL="0" indent="0">
              <a:buNone/>
            </a:pPr>
            <a:r>
              <a:rPr lang="en-GB" dirty="0"/>
              <a:t>        mergeSort(arr, left, mid);</a:t>
            </a:r>
          </a:p>
          <a:p>
            <a:pPr marL="0" indent="0">
              <a:buNone/>
            </a:pPr>
            <a:r>
              <a:rPr lang="en-GB" dirty="0"/>
              <a:t>        mergeSort(arr, mid + 1, right);</a:t>
            </a:r>
          </a:p>
          <a:p>
            <a:pPr marL="0" indent="0">
              <a:buNone/>
            </a:pPr>
            <a:r>
              <a:rPr lang="en-GB" dirty="0"/>
              <a:t>        merge(arr, left, mid, right);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Call from main():</a:t>
            </a:r>
          </a:p>
          <a:p>
            <a:pPr marL="0" indent="0">
              <a:buNone/>
            </a:pPr>
            <a:r>
              <a:rPr lang="en-GB" dirty="0"/>
              <a:t>mergeSort(arr, 0, n - 1);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Dry Run (Divide Phase)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0500" lnSpcReduction="10000"/>
          </a:bodyPr>
          <a:lstStyle/>
          <a:p>
            <a:pPr marL="0" indent="0">
              <a:buNone/>
            </a:pPr>
            <a:r>
              <a:rPr lang="en-GB" dirty="0"/>
              <a:t>Array: [38, 27, 43, 3, 9, 82, 10]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            [38,27,43,3,9,82,10]</a:t>
            </a:r>
          </a:p>
          <a:p>
            <a:pPr marL="0" indent="0">
              <a:buNone/>
            </a:pPr>
            <a:r>
              <a:rPr lang="en-GB" dirty="0"/>
              <a:t>                /                  \</a:t>
            </a:r>
          </a:p>
          <a:p>
            <a:pPr marL="0" indent="0">
              <a:buNone/>
            </a:pPr>
            <a:r>
              <a:rPr lang="en-GB" dirty="0"/>
              <a:t>        [38,27,43,3]            [9,82,10]</a:t>
            </a:r>
          </a:p>
          <a:p>
            <a:pPr marL="0" indent="0">
              <a:buNone/>
            </a:pPr>
            <a:r>
              <a:rPr lang="en-GB" dirty="0"/>
              <a:t>        /          \              /      \</a:t>
            </a:r>
          </a:p>
          <a:p>
            <a:pPr marL="0" indent="0">
              <a:buNone/>
            </a:pPr>
            <a:r>
              <a:rPr lang="en-GB" dirty="0"/>
              <a:t>   [38,27]        [43,3]       [9,82]    [10]</a:t>
            </a:r>
          </a:p>
          <a:p>
            <a:pPr marL="0" indent="0">
              <a:buNone/>
            </a:pPr>
            <a:r>
              <a:rPr lang="en-GB" dirty="0"/>
              <a:t>    /    \          /   \        /   \</a:t>
            </a:r>
          </a:p>
          <a:p>
            <a:pPr marL="0" indent="0">
              <a:buNone/>
            </a:pPr>
            <a:r>
              <a:rPr lang="en-GB" dirty="0"/>
              <a:t> [38]   [27]     [43]   [3]   [9]   [82]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array keeps splitting in half until every subarray has just one element.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Dry Run (Merge Phase)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87000" lnSpcReduction="10000"/>
          </a:bodyPr>
          <a:lstStyle/>
          <a:p>
            <a:pPr marL="0" indent="0">
              <a:buNone/>
            </a:pPr>
            <a:r>
              <a:rPr lang="en-GB" dirty="0"/>
              <a:t> [38]  [27]     →  merge →  [27,38]</a:t>
            </a:r>
          </a:p>
          <a:p>
            <a:pPr marL="0" indent="0">
              <a:buNone/>
            </a:pPr>
            <a:r>
              <a:rPr lang="en-GB" dirty="0"/>
              <a:t> [43]   [3]      →  merge →  [3,43]</a:t>
            </a:r>
          </a:p>
          <a:p>
            <a:pPr marL="0" indent="0">
              <a:buNone/>
            </a:pPr>
            <a:r>
              <a:rPr lang="en-GB" dirty="0"/>
              <a:t> [27,38] [3,43]  →  merge →  [3,27,38,43]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[9]  [82]       →  merge →  [9,82]</a:t>
            </a:r>
          </a:p>
          <a:p>
            <a:pPr marL="0" indent="0">
              <a:buNone/>
            </a:pPr>
            <a:r>
              <a:rPr lang="en-GB" dirty="0"/>
              <a:t> [9,82]  [10]    →  merge →  [9,10,82]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[3,27,38,43]  [9,10,82]  →  merge →  [3,9,10,27,38,43,82]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Merging works bottom-up: single elements merge first, then merged pairs combine, until the whole array is sorted.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Merge Sort -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537376"/>
              </p:ext>
            </p:extLst>
          </p:nvPr>
        </p:nvGraphicFramePr>
        <p:xfrm>
          <a:off x="838200" y="1874520"/>
          <a:ext cx="10515600" cy="39957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05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Scenario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0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Best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—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 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0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Worst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—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 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0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Average Case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—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 log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6083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Space Complexity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Needs temporary arrays for merging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Why Merge Sort Scales Better - Intuition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For an array of 1,000,000 elements: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Bubble Sort (worst case): ~1,000,000,000,000 comparisons (n²)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Merge Sort: ~20,000,000 comparisons (n log n, since log₂(1,000,000) ≈ 20)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This massive gap is why Merge Sort (and other O(n log n) algorithms) are preferred for real-world, large-scale sorting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Summary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Merge Sort splits the problem recursively and merges sorted halves - consistently O(n log n)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/>
              <a:t>Choice </a:t>
            </a:r>
            <a:r>
              <a:rPr lang="en-GB" dirty="0"/>
              <a:t>of algorithm depends on dataset size, memory constraints, and whether near-sorted input is expected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861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Sorting Algorithms</vt:lpstr>
      <vt:lpstr>Merge Sort - The Idea</vt:lpstr>
      <vt:lpstr>Merge Sort - Algorithm</vt:lpstr>
      <vt:lpstr>Merge Sort - The Merge Step</vt:lpstr>
      <vt:lpstr>Merge Sort - C++ Code (Merge Function)</vt:lpstr>
      <vt:lpstr>Merge Sort - C++ Code (Recursive Driver)</vt:lpstr>
      <vt:lpstr>Merge Sort - Dry Run (Divide Phase)</vt:lpstr>
      <vt:lpstr>Merge Sort - Dry Run (Merge Phase)</vt:lpstr>
      <vt:lpstr>Merge Sort - Complexity</vt:lpstr>
      <vt:lpstr>Why Merge Sort Scales Better - Intuition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admin</cp:lastModifiedBy>
  <cp:revision>8</cp:revision>
  <dcterms:created xsi:type="dcterms:W3CDTF">2026-07-17T16:00:13Z</dcterms:created>
  <dcterms:modified xsi:type="dcterms:W3CDTF">2026-10-15T09:37:54Z</dcterms:modified>
</cp:coreProperties>
</file>