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9" r:id="rId5"/>
    <p:sldId id="268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5" r:id="rId17"/>
    <p:sldId id="280" r:id="rId18"/>
    <p:sldId id="286" r:id="rId19"/>
    <p:sldId id="281" r:id="rId20"/>
    <p:sldId id="287" r:id="rId21"/>
    <p:sldId id="282" r:id="rId22"/>
    <p:sldId id="288" r:id="rId23"/>
    <p:sldId id="283" r:id="rId24"/>
    <p:sldId id="284" r:id="rId25"/>
    <p:sldId id="264" r:id="rId26"/>
    <p:sldId id="265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06/09/2026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06/09/2026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What is Data?</a:t>
            </a:r>
          </a:p>
          <a:p>
            <a:r>
              <a:rPr lang="en-PK" dirty="0"/>
              <a:t>What is Data Type?</a:t>
            </a:r>
          </a:p>
          <a:p>
            <a:r>
              <a:rPr lang="en-PK" dirty="0"/>
              <a:t>What is Data Structure?</a:t>
            </a:r>
          </a:p>
          <a:p>
            <a:endParaRPr lang="en-PK" dirty="0"/>
          </a:p>
        </p:txBody>
      </p:sp>
      <p:pic>
        <p:nvPicPr>
          <p:cNvPr id="1026" name="Picture 2" descr="What is Data? - Library &amp; Information Science Education Network">
            <a:extLst>
              <a:ext uri="{FF2B5EF4-FFF2-40B4-BE49-F238E27FC236}">
                <a16:creationId xmlns:a16="http://schemas.microsoft.com/office/drawing/2014/main" id="{811A24CF-5B4E-6753-667B-6AD30C8A9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37" y="681037"/>
            <a:ext cx="3148263" cy="30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Types in C - GeeksforGeeks">
            <a:extLst>
              <a:ext uri="{FF2B5EF4-FFF2-40B4-BE49-F238E27FC236}">
                <a16:creationId xmlns:a16="http://schemas.microsoft.com/office/drawing/2014/main" id="{814EE127-AD04-25F5-A763-D0571765F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042" y="3689996"/>
            <a:ext cx="5368758" cy="268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 Structures and Types">
            <a:extLst>
              <a:ext uri="{FF2B5EF4-FFF2-40B4-BE49-F238E27FC236}">
                <a16:creationId xmlns:a16="http://schemas.microsoft.com/office/drawing/2014/main" id="{420B0FC7-0238-A3DE-894A-EA68F3BCC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17" y="3689996"/>
            <a:ext cx="4720463" cy="268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86EE-4FC8-2797-861D-DA39220E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CA07A-BE6D-6E3D-BE71-9BEE9B9D2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raw, unorganized facts, measurements, or figures that can be processed to create meaningful information.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classification or attribute assigned to a piece of data that tells a computer system, compiler, or interpreter </a:t>
            </a:r>
            <a:r>
              <a:rPr lang="en-GB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interpret, store, and manipulate its value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specialized format for </a:t>
            </a:r>
            <a:r>
              <a:rPr lang="en-GB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organizing, processing, storing, and retrieving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computer's memory so that it can be used efficiently. 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17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442A-C3F1-1B3B-2B4C-076FB694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31"/>
            <a:ext cx="10515600" cy="2859338"/>
          </a:xfrm>
        </p:spPr>
        <p:txBody>
          <a:bodyPr>
            <a:normAutofit/>
          </a:bodyPr>
          <a:lstStyle/>
          <a:p>
            <a:pPr algn="just"/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b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needed to store one student's name, roll number, and three test scores together, could a single data type do that job?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596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49B5-1C6D-6925-E8D3-46E6056E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 Data Structure?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CF84-B60B-D849-E7EF-9DC08E70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r>
              <a:rPr lang="en-GB" b="1" dirty="0"/>
              <a:t>In simple words:</a:t>
            </a:r>
            <a:r>
              <a:rPr lang="en-GB" dirty="0"/>
              <a:t> Sometimes one variable isn't enough - we need to group several related pieces of data (maybe of different types) and treat them as ONE unit.</a:t>
            </a:r>
          </a:p>
          <a:p>
            <a:pPr rtl="0"/>
            <a:r>
              <a:rPr lang="en-GB" b="1" dirty="0"/>
              <a:t>Formal definition (quote/callout box): </a:t>
            </a:r>
            <a:r>
              <a:rPr lang="en-GB" dirty="0"/>
              <a:t>"A data structure is a named group of data of different data types which can be processed as a single unit."</a:t>
            </a:r>
          </a:p>
          <a:p>
            <a:pPr rtl="0"/>
            <a:r>
              <a:rPr lang="en-GB" b="1" dirty="0"/>
              <a:t>Example: a Student Record</a:t>
            </a:r>
            <a:r>
              <a:rPr lang="en-GB" dirty="0"/>
              <a:t> (4 boxes)</a:t>
            </a:r>
            <a:br>
              <a:rPr lang="en-GB" dirty="0"/>
            </a:br>
            <a:r>
              <a:rPr lang="en-GB" dirty="0"/>
              <a:t>Name (char[]) · Roll No. (int) · GPA (float) · Semester (int)</a:t>
            </a:r>
          </a:p>
          <a:p>
            <a:pPr rtl="0"/>
            <a:r>
              <a:rPr lang="en-GB" i="1" dirty="0"/>
              <a:t>Caption:</a:t>
            </a:r>
            <a:r>
              <a:rPr lang="en-GB" dirty="0"/>
              <a:t> Four different data types, stored and processed together as ONE record - that grouping is a data structure.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7243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618A-8D85-64F1-DB84-958FBCB5F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GB" dirty="0"/>
              <a:t>Two Design Goals: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 Rich enough to reflect real relationships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 Simple enough to process efficiently.</a:t>
            </a:r>
          </a:p>
          <a:p>
            <a:r>
              <a:rPr lang="en-GB" b="1" dirty="0"/>
              <a:t>Rule of thumb: </a:t>
            </a:r>
            <a:r>
              <a:rPr lang="en-GB" dirty="0"/>
              <a:t>If you're describing ONE value, that's a data type. If you're describing how MANY values relate to each other, that's a data structure.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6925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C7CE-1E72-D357-FFD8-932D67E3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249"/>
            <a:ext cx="10515600" cy="1325563"/>
          </a:xfrm>
        </p:spPr>
        <p:txBody>
          <a:bodyPr/>
          <a:lstStyle/>
          <a:p>
            <a:r>
              <a:rPr lang="en-GB" b="1" i="1" dirty="0"/>
              <a:t>Why Do We Need Data Structures?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E5423-8AF6-68BF-F61E-BB9622F95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812"/>
            <a:ext cx="10515600" cy="4351338"/>
          </a:xfrm>
        </p:spPr>
        <p:txBody>
          <a:bodyPr/>
          <a:lstStyle/>
          <a:p>
            <a:r>
              <a:rPr lang="en-GB" b="1" dirty="0"/>
              <a:t>Real Example: An Employee File</a:t>
            </a:r>
            <a:br>
              <a:rPr lang="en-GB" dirty="0"/>
            </a:br>
            <a:r>
              <a:rPr lang="en-GB" dirty="0"/>
              <a:t>Each record: Name, Address, Phone, Age, Sex, Employee Number - stored and processed together.</a:t>
            </a:r>
          </a:p>
          <a:p>
            <a:endParaRPr lang="en-PK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C1A706-A139-2F2D-CB54-65C54DF49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15196"/>
              </p:ext>
            </p:extLst>
          </p:nvPr>
        </p:nvGraphicFramePr>
        <p:xfrm>
          <a:off x="1422094" y="2986375"/>
          <a:ext cx="9517656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1597">
                  <a:extLst>
                    <a:ext uri="{9D8B030D-6E8A-4147-A177-3AD203B41FA5}">
                      <a16:colId xmlns:a16="http://schemas.microsoft.com/office/drawing/2014/main" val="2914011990"/>
                    </a:ext>
                  </a:extLst>
                </a:gridCol>
                <a:gridCol w="5916059">
                  <a:extLst>
                    <a:ext uri="{9D8B030D-6E8A-4147-A177-3AD203B41FA5}">
                      <a16:colId xmlns:a16="http://schemas.microsoft.com/office/drawing/2014/main" val="2563750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98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Traverse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Mail a meeting notice to every employee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59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Find one employee's address by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25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 new employee joins the company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800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An employee leaves the company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60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8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3EAD-8A7D-9415-3159-38EA850FD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rtl="0"/>
            <a:r>
              <a:rPr lang="en-GB" b="1" dirty="0"/>
              <a:t>Everyday Analogies</a:t>
            </a:r>
            <a:endParaRPr lang="en-GB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Your phone Contacts app - organizes name, number, photo per contact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library catalogue - organizes book, author, shelf location together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 online shopping cart - organizes item, price, and quantity as one line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0409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356D-BC4A-B0CE-5D45-1F8B2DED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Algorithms and Data Structures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3818-05DF-C516-0595-91070113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b="1" dirty="0"/>
              <a:t>Algorithm + Data Structure = Program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 algorithm is the step-by-step procedure that solves a task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data structure is how the data involved is organized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RIGHT data structure choice shapes how well the algorithm performs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Choosing an algorithm and its data structure together is what 'programming' means at its core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876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10EF-DAF2-CC91-1235-524BAD5B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Classification of Data Structures</a:t>
            </a:r>
            <a:endParaRPr lang="en-PK" b="1" i="1" dirty="0"/>
          </a:p>
        </p:txBody>
      </p:sp>
      <p:pic>
        <p:nvPicPr>
          <p:cNvPr id="3074" name="Picture 2" descr="Types Of Data Structures | Data Structure | Tutorialink.com">
            <a:extLst>
              <a:ext uri="{FF2B5EF4-FFF2-40B4-BE49-F238E27FC236}">
                <a16:creationId xmlns:a16="http://schemas.microsoft.com/office/drawing/2014/main" id="{C70EE8F6-BCED-D6C8-7B71-4462694064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2"/>
          <a:stretch/>
        </p:blipFill>
        <p:spPr bwMode="auto">
          <a:xfrm>
            <a:off x="2853867" y="1215195"/>
            <a:ext cx="6484266" cy="385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46B9A-6A75-BBDF-CD98-87B15A030C48}"/>
              </a:ext>
            </a:extLst>
          </p:cNvPr>
          <p:cNvSpPr txBox="1"/>
          <p:nvPr/>
        </p:nvSpPr>
        <p:spPr>
          <a:xfrm>
            <a:off x="1366092" y="4527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B464F-4CC3-E928-F3EE-3848D0C41A55}"/>
              </a:ext>
            </a:extLst>
          </p:cNvPr>
          <p:cNvSpPr txBox="1"/>
          <p:nvPr/>
        </p:nvSpPr>
        <p:spPr>
          <a:xfrm>
            <a:off x="761082" y="5269731"/>
            <a:ext cx="9121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Primitive = built directly into the language. Non-Primitive = built by us, from primitives, to model real relationships.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44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E98E-A7BE-9D2A-2A54-7454162D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Linear vs. Non-Linear Data Structures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D3D7E-EF7D-0C03-B349-EBBAF2D7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rtl="0"/>
            <a:r>
              <a:rPr lang="en-GB" b="1" dirty="0"/>
              <a:t>LINEAR: </a:t>
            </a:r>
            <a:r>
              <a:rPr lang="en-GB" i="1" dirty="0"/>
              <a:t>Elements are arranged in a sequence, one after another.</a:t>
            </a:r>
          </a:p>
          <a:p>
            <a:pPr rtl="0"/>
            <a:r>
              <a:rPr lang="en-GB" dirty="0"/>
              <a:t>Each element has exactly one predecessor and one successor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Examples: Arrays, Linked Lists, Stacks, Queues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Good for ordered, step-by-step data</a:t>
            </a:r>
          </a:p>
          <a:p>
            <a:pPr rtl="0"/>
            <a:r>
              <a:rPr lang="en-GB" b="1" dirty="0"/>
              <a:t>NON-LINEAR: </a:t>
            </a:r>
            <a:r>
              <a:rPr lang="en-GB" i="1" dirty="0"/>
              <a:t>Elements branch out - one item can connect to several others.</a:t>
            </a:r>
          </a:p>
          <a:p>
            <a:pPr rtl="0"/>
            <a:r>
              <a:rPr lang="en-GB" dirty="0"/>
              <a:t>Elements can have multiple connections (parent/child, or many </a:t>
            </a:r>
            <a:r>
              <a:rPr lang="en-GB" dirty="0" err="1"/>
              <a:t>neighbors</a:t>
            </a:r>
            <a:r>
              <a:rPr lang="en-GB" dirty="0"/>
              <a:t>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Examples: Trees, Graphs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Good for hierarchical or networked data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9124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8695-2F3B-C576-5A02-DB6BB48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Basic Operations on Data Structures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60AFA-789A-31DA-5DAC-AC08CBA8B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578955"/>
              </p:ext>
            </p:extLst>
          </p:nvPr>
        </p:nvGraphicFramePr>
        <p:xfrm>
          <a:off x="838200" y="2148840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9925">
                  <a:extLst>
                    <a:ext uri="{9D8B030D-6E8A-4147-A177-3AD203B41FA5}">
                      <a16:colId xmlns:a16="http://schemas.microsoft.com/office/drawing/2014/main" val="4268538370"/>
                    </a:ext>
                  </a:extLst>
                </a:gridCol>
                <a:gridCol w="3822853">
                  <a:extLst>
                    <a:ext uri="{9D8B030D-6E8A-4147-A177-3AD203B41FA5}">
                      <a16:colId xmlns:a16="http://schemas.microsoft.com/office/drawing/2014/main" val="3133287335"/>
                    </a:ext>
                  </a:extLst>
                </a:gridCol>
                <a:gridCol w="6142822">
                  <a:extLst>
                    <a:ext uri="{9D8B030D-6E8A-4147-A177-3AD203B41FA5}">
                      <a16:colId xmlns:a16="http://schemas.microsoft.com/office/drawing/2014/main" val="1305813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79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Traversing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Visit each element exactly once to process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400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Searching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Find whether/where a specific item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42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Inserting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Add a new element into the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Deleting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Remove an existing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8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Arrange elements into ascending/descending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8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Combine two sorted structures into one sorted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400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80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52B1-0984-6FBF-8AD2-4BAF322D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Arrays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86F2-6CF2-5D3C-9F8E-D8B85823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694"/>
            <a:ext cx="10515601" cy="4351338"/>
          </a:xfrm>
        </p:spPr>
        <p:txBody>
          <a:bodyPr>
            <a:normAutofit/>
          </a:bodyPr>
          <a:lstStyle/>
          <a:p>
            <a:pPr rtl="0"/>
            <a:r>
              <a:rPr lang="en-GB" dirty="0"/>
              <a:t>A finite set of homogeneous (same-type) elements, stored in consecutive memory locations and accessed by an index.</a:t>
            </a:r>
          </a:p>
          <a:p>
            <a:pPr rtl="0"/>
            <a:r>
              <a:rPr lang="en-GB" b="1" dirty="0"/>
              <a:t>Declaration: </a:t>
            </a:r>
            <a:r>
              <a:rPr lang="en-GB" dirty="0"/>
              <a:t>int A[10];</a:t>
            </a:r>
          </a:p>
          <a:p>
            <a:pPr rtl="0"/>
            <a:r>
              <a:rPr lang="en-GB" b="1" dirty="0"/>
              <a:t>Key Facts:</a:t>
            </a:r>
            <a:endParaRPr lang="en-GB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First index is always 0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Elements sit in consecutive memory - fast direct access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Reading/writing needs a loop (one loop per dimension)</a:t>
            </a:r>
          </a:p>
          <a:p>
            <a:pPr rtl="0"/>
            <a:r>
              <a:rPr lang="en-GB" b="1" dirty="0"/>
              <a:t>Size formula:</a:t>
            </a:r>
            <a:r>
              <a:rPr lang="en-GB" dirty="0"/>
              <a:t> </a:t>
            </a:r>
          </a:p>
          <a:p>
            <a:pPr marL="457200" lvl="1" indent="0">
              <a:buNone/>
            </a:pPr>
            <a:r>
              <a:rPr lang="en-GB" dirty="0"/>
              <a:t>(upper bound − lower bound) + 1 = (9 − 0) + 1 = 10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PK" dirty="0"/>
          </a:p>
        </p:txBody>
      </p:sp>
      <p:pic>
        <p:nvPicPr>
          <p:cNvPr id="6146" name="Picture 2" descr="Array Data Structure - Absolute Code Works">
            <a:extLst>
              <a:ext uri="{FF2B5EF4-FFF2-40B4-BE49-F238E27FC236}">
                <a16:creationId xmlns:a16="http://schemas.microsoft.com/office/drawing/2014/main" id="{CF2DBB4A-A0EF-9D52-0254-D44A45ED2C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93" b="14272"/>
          <a:stretch/>
        </p:blipFill>
        <p:spPr bwMode="auto">
          <a:xfrm>
            <a:off x="7124407" y="2791390"/>
            <a:ext cx="4640535" cy="127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3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70B4-FA80-6200-391A-7D977FBF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Linked Lists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D35D-4F63-7FA1-3B1B-359CCD1CA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489" y="1495119"/>
            <a:ext cx="10791022" cy="4351338"/>
          </a:xfrm>
        </p:spPr>
        <p:txBody>
          <a:bodyPr>
            <a:normAutofit/>
          </a:bodyPr>
          <a:lstStyle/>
          <a:p>
            <a:pPr rtl="0"/>
            <a:r>
              <a:rPr lang="en-GB" sz="2400" dirty="0"/>
              <a:t>A linear collection of nodes, where each node holds data AND a pointer to the next node.</a:t>
            </a:r>
          </a:p>
          <a:p>
            <a:pPr rtl="0"/>
            <a:r>
              <a:rPr lang="en-GB" sz="2400" b="1" dirty="0"/>
              <a:t>Key points:</a:t>
            </a:r>
            <a:endParaRPr lang="en-GB" sz="24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sz="2400" dirty="0"/>
              <a:t>Each node = Info (the data) + Link (address of the next node)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2400" dirty="0"/>
              <a:t>The last node's link is NULL - marks the end of the list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sz="2400" dirty="0"/>
              <a:t>Unlike arrays, nodes need NOT sit in consecutive memory</a:t>
            </a:r>
          </a:p>
          <a:p>
            <a:endParaRPr lang="en-PK" sz="2400" dirty="0"/>
          </a:p>
        </p:txBody>
      </p:sp>
      <p:pic>
        <p:nvPicPr>
          <p:cNvPr id="7170" name="Picture 2" descr="Data Structures In The Real World — Linked List | by Christopher Webb |  Journey Of One Thousand Apps | Medium">
            <a:extLst>
              <a:ext uri="{FF2B5EF4-FFF2-40B4-BE49-F238E27FC236}">
                <a16:creationId xmlns:a16="http://schemas.microsoft.com/office/drawing/2014/main" id="{2DF57B8D-2BCA-245D-303B-8C3143766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821" y="4292061"/>
            <a:ext cx="4828609" cy="217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402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EF15-4531-4540-D4A9-590C7CFA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Stacks - Last In, First Out (LIFO)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8B966-171D-D3A8-AA7A-A290E37F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r>
              <a:rPr lang="en-GB" b="1" dirty="0"/>
              <a:t>Definition:</a:t>
            </a:r>
            <a:r>
              <a:rPr lang="en-GB" dirty="0"/>
              <a:t> insertion (push) and deletion (pop) both happen only at one end - the Top of Stack (TOS).</a:t>
            </a:r>
          </a:p>
          <a:p>
            <a:pPr rtl="0"/>
            <a:r>
              <a:rPr lang="en-GB" b="1" dirty="0"/>
              <a:t>Analogy:</a:t>
            </a:r>
            <a:r>
              <a:rPr lang="en-GB" dirty="0"/>
              <a:t> a stack of plates at a buffet - you always take the top plate off, and always add a new one on top.</a:t>
            </a:r>
          </a:p>
          <a:p>
            <a:pPr rtl="0"/>
            <a:r>
              <a:rPr lang="en-GB" b="1" dirty="0"/>
              <a:t>Two Core Operations:</a:t>
            </a:r>
            <a:endParaRPr lang="en-GB" dirty="0"/>
          </a:p>
          <a:p>
            <a:pPr lvl="1"/>
            <a:r>
              <a:rPr lang="en-GB" dirty="0"/>
              <a:t>Push - add a new element on top of the stack</a:t>
            </a:r>
          </a:p>
          <a:p>
            <a:pPr lvl="1"/>
            <a:r>
              <a:rPr lang="en-GB" dirty="0"/>
              <a:t>Pop - remove the element currently on top</a:t>
            </a:r>
          </a:p>
          <a:p>
            <a:pPr lvl="1"/>
            <a:r>
              <a:rPr lang="en-GB" dirty="0"/>
              <a:t>The last element pushed is always the first one popped (LIFO)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82696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ack Data Structure | Board Infinity">
            <a:extLst>
              <a:ext uri="{FF2B5EF4-FFF2-40B4-BE49-F238E27FC236}">
                <a16:creationId xmlns:a16="http://schemas.microsoft.com/office/drawing/2014/main" id="{9F19EA86-E9A6-948D-DAB5-67E2AD070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1314450"/>
            <a:ext cx="65024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837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6296-A2A5-5584-1C5B-8E104095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Queues - First In, First Out (FIFO)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5F8A6-CD7B-3D81-1F89-95B8CAAEA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r>
              <a:rPr lang="en-GB" dirty="0"/>
              <a:t>Insertion happens at the REAR; deletion happens at the FRONT.</a:t>
            </a:r>
          </a:p>
          <a:p>
            <a:pPr rtl="0"/>
            <a:r>
              <a:rPr lang="en-GB" b="1" dirty="0"/>
              <a:t>Analogy:</a:t>
            </a:r>
            <a:r>
              <a:rPr lang="en-GB" dirty="0"/>
              <a:t> a railway reservation line - new customers join at the back; whoever's been waiting longest is served first, from the front.</a:t>
            </a:r>
          </a:p>
          <a:p>
            <a:pPr rtl="0"/>
            <a:r>
              <a:rPr lang="en-GB" b="1" dirty="0"/>
              <a:t>Two Core Operations:</a:t>
            </a:r>
            <a:endParaRPr lang="en-GB" dirty="0"/>
          </a:p>
          <a:p>
            <a:pPr lvl="1"/>
            <a:r>
              <a:rPr lang="en-GB" dirty="0"/>
              <a:t>Enqueue - add a new element at the rear</a:t>
            </a:r>
          </a:p>
          <a:p>
            <a:pPr lvl="1"/>
            <a:r>
              <a:rPr lang="en-GB" dirty="0"/>
              <a:t>Dequeue - remove the element at the front</a:t>
            </a:r>
          </a:p>
          <a:p>
            <a:pPr lvl="1"/>
            <a:r>
              <a:rPr lang="en-GB" dirty="0"/>
              <a:t>10 was added first, so 10 leaves first; 80 was added last, so 80 leaves last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04739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pplications of Queue data structure – CSGEEK – A COMPUTER SCIENCE PORTAL">
            <a:extLst>
              <a:ext uri="{FF2B5EF4-FFF2-40B4-BE49-F238E27FC236}">
                <a16:creationId xmlns:a16="http://schemas.microsoft.com/office/drawing/2014/main" id="{97EC8E72-0696-8E59-4719-5A30922A6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107" y="1542973"/>
            <a:ext cx="4860893" cy="377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Queue Data Structure - Types, Applications, JavaScript Implementation">
            <a:extLst>
              <a:ext uri="{FF2B5EF4-FFF2-40B4-BE49-F238E27FC236}">
                <a16:creationId xmlns:a16="http://schemas.microsoft.com/office/drawing/2014/main" id="{4E58B178-6517-1F77-5450-F056D4231E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9"/>
          <a:stretch/>
        </p:blipFill>
        <p:spPr bwMode="auto">
          <a:xfrm>
            <a:off x="6096000" y="1613970"/>
            <a:ext cx="6026442" cy="363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463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9826-E82A-986F-13E5-DCF31EADD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Trees - Hierarchical Structure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6EFEB-8403-DC9C-2888-4EE5CE38B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b="1" dirty="0"/>
              <a:t>Definition:</a:t>
            </a:r>
            <a:r>
              <a:rPr lang="en-GB" dirty="0"/>
              <a:t> a finite set of nodes representing a hierarchical (parent-child) relationship, with one Root at the top.</a:t>
            </a:r>
          </a:p>
          <a:p>
            <a:pPr rtl="0"/>
            <a:r>
              <a:rPr lang="en-GB" b="1" dirty="0"/>
              <a:t>Key points:</a:t>
            </a:r>
            <a:endParaRPr lang="en-GB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is the Root; B and C are children of A, each heading its own subtree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Unlike natural trees, data structure trees are usually drawn growing DOWNWARD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9845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ADDD7EF-02FF-1BD0-0790-FBD4A119BB09}"/>
              </a:ext>
            </a:extLst>
          </p:cNvPr>
          <p:cNvGrpSpPr/>
          <p:nvPr/>
        </p:nvGrpSpPr>
        <p:grpSpPr>
          <a:xfrm>
            <a:off x="1388485" y="638978"/>
            <a:ext cx="9415030" cy="5580043"/>
            <a:chOff x="1388485" y="638978"/>
            <a:chExt cx="9415030" cy="5580043"/>
          </a:xfrm>
        </p:grpSpPr>
        <p:pic>
          <p:nvPicPr>
            <p:cNvPr id="11266" name="Picture 2" descr="What is a tree data structure? - Web Development - Discussion Forum | Board  Infinity">
              <a:extLst>
                <a:ext uri="{FF2B5EF4-FFF2-40B4-BE49-F238E27FC236}">
                  <a16:creationId xmlns:a16="http://schemas.microsoft.com/office/drawing/2014/main" id="{0BB108C2-4DF8-59AA-0B38-43195BE3A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485" y="638978"/>
              <a:ext cx="9415030" cy="5580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C4B70C3-62AA-2F51-07C1-4AF5CD2F8C07}"/>
                </a:ext>
              </a:extLst>
            </p:cNvPr>
            <p:cNvSpPr/>
            <p:nvPr/>
          </p:nvSpPr>
          <p:spPr>
            <a:xfrm>
              <a:off x="1575412" y="892366"/>
              <a:ext cx="1949986" cy="661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862148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F8E6-E603-A91D-CBD7-2273D124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Graphs - Networks of Relationships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EC23-BDBF-F5E1-99CB-2C0B1A3F5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/>
            <a:r>
              <a:rPr lang="en-GB" b="1" dirty="0"/>
              <a:t>Definition:</a:t>
            </a:r>
            <a:r>
              <a:rPr lang="en-GB" dirty="0"/>
              <a:t> a graph G = (V, E) is a set of vertices (V) connected by edges (E) - the relationship need not be hierarchical.</a:t>
            </a:r>
          </a:p>
          <a:p>
            <a:pPr rtl="0"/>
            <a:r>
              <a:rPr lang="en-GB" b="1" dirty="0"/>
              <a:t>Analogy:</a:t>
            </a:r>
            <a:r>
              <a:rPr lang="en-GB" dirty="0"/>
              <a:t> 5 villages separated by a river, connected by bridges. Villages = vertices; bridges = edges.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V(G) = { v1, v2, v3, v4, v5 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E(G) = edges connecting village-pairs directly by a bridge</a:t>
            </a:r>
          </a:p>
          <a:p>
            <a:pPr rtl="0"/>
            <a:r>
              <a:rPr lang="en-GB" b="1" dirty="0"/>
              <a:t>Key points:</a:t>
            </a:r>
            <a:endParaRPr lang="en-GB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tree IS a graph, but a graph is NOT always a tree - graphs allow cycles and multiple paths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Real-world graphs: road networks, social networks, computer networks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78424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ntroduction to Graph - Data Structures Tutorial | Study Glance">
            <a:extLst>
              <a:ext uri="{FF2B5EF4-FFF2-40B4-BE49-F238E27FC236}">
                <a16:creationId xmlns:a16="http://schemas.microsoft.com/office/drawing/2014/main" id="{0D4C884A-4F9D-D44C-58FF-3A9D0EEC2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673100"/>
            <a:ext cx="8343900" cy="5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910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A06F-FDE3-579A-6C6E-58D57669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Data Structures Matter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632506-17C2-8210-C3C8-54F05BB84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438908"/>
              </p:ext>
            </p:extLst>
          </p:nvPr>
        </p:nvGraphicFramePr>
        <p:xfrm>
          <a:off x="957090" y="1965960"/>
          <a:ext cx="10277819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38603">
                  <a:extLst>
                    <a:ext uri="{9D8B030D-6E8A-4147-A177-3AD203B41FA5}">
                      <a16:colId xmlns:a16="http://schemas.microsoft.com/office/drawing/2014/main" val="3510513677"/>
                    </a:ext>
                  </a:extLst>
                </a:gridCol>
                <a:gridCol w="6639216">
                  <a:extLst>
                    <a:ext uri="{9D8B030D-6E8A-4147-A177-3AD203B41FA5}">
                      <a16:colId xmlns:a16="http://schemas.microsoft.com/office/drawing/2014/main" val="937413023"/>
                    </a:ext>
                  </a:extLst>
                </a:gridCol>
              </a:tblGrid>
              <a:tr h="350616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Field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How Data Structures Show Up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630140"/>
                  </a:ext>
                </a:extLst>
              </a:tr>
              <a:tr h="61357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Software Development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Every app - from a to-do list to a game engine - relies on choosing the right structure to store its data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461400"/>
                  </a:ext>
                </a:extLst>
              </a:tr>
              <a:tr h="61357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Artificial Intelligence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Search trees, graphs, and queues power pathfinding, decision-making, and neural network pipelines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277623"/>
                  </a:ext>
                </a:extLst>
              </a:tr>
              <a:tr h="61357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Databases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Indexes, B-Trees, and hash structures make searching millions of records feel instant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936817"/>
                  </a:ext>
                </a:extLst>
              </a:tr>
              <a:tr h="613578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Cybersecurity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Hash tables and tries detect malware signatures and patterns; graphs model attack surfaces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571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244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D9FA-9BAC-225B-BBA8-1A93DC8B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Big Ideas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FF753-1EB0-D293-455B-620D5FB3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data structure organizes related data AND the relationships between it. </a:t>
            </a:r>
          </a:p>
          <a:p>
            <a:r>
              <a:rPr lang="en-GB" dirty="0"/>
              <a:t>Data structures split into Primitive and Non-Primitive; Non-Primitive splits into Linear and Non-Linear. </a:t>
            </a:r>
          </a:p>
          <a:p>
            <a:r>
              <a:rPr lang="en-GB" dirty="0"/>
              <a:t>Every structure supports core operations - traverse, search, insert, delete (plus sort &amp; merge).</a:t>
            </a:r>
          </a:p>
          <a:p>
            <a:r>
              <a:rPr lang="en-GB" dirty="0"/>
              <a:t>We previewed Arrays, Linked Lists, Stacks, Queues, Trees, and Graphs - each will get its own full lab.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4481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1328</Words>
  <Application>Microsoft Macintosh PowerPoint</Application>
  <PresentationFormat>Widescreen</PresentationFormat>
  <Paragraphs>139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Data Structures</vt:lpstr>
      <vt:lpstr>Question</vt:lpstr>
      <vt:lpstr>Definitions</vt:lpstr>
      <vt:lpstr>Question If you needed to store one student's name, roll number, and three test scores together, could a single data type do that job?</vt:lpstr>
      <vt:lpstr>What Is a Data Structure?</vt:lpstr>
      <vt:lpstr>PowerPoint Presentation</vt:lpstr>
      <vt:lpstr>Why Do We Need Data Structures?</vt:lpstr>
      <vt:lpstr>PowerPoint Presentation</vt:lpstr>
      <vt:lpstr>Algorithms and Data Structures</vt:lpstr>
      <vt:lpstr>Classification of Data Structures</vt:lpstr>
      <vt:lpstr>Linear vs. Non-Linear Data Structures</vt:lpstr>
      <vt:lpstr>Basic Operations on Data Structures</vt:lpstr>
      <vt:lpstr>Arrays</vt:lpstr>
      <vt:lpstr>Linked Lists</vt:lpstr>
      <vt:lpstr>Stacks - Last In, First Out (LIFO)</vt:lpstr>
      <vt:lpstr>PowerPoint Presentation</vt:lpstr>
      <vt:lpstr>Queues - First In, First Out (FIFO)</vt:lpstr>
      <vt:lpstr>PowerPoint Presentation</vt:lpstr>
      <vt:lpstr>Trees - Hierarchical Structure</vt:lpstr>
      <vt:lpstr>PowerPoint Presentation</vt:lpstr>
      <vt:lpstr>Graphs - Networks of Relationships</vt:lpstr>
      <vt:lpstr>PowerPoint Presentation</vt:lpstr>
      <vt:lpstr>Why Data Structures Matter</vt:lpstr>
      <vt:lpstr>Today's Big Ideas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6</cp:revision>
  <dcterms:created xsi:type="dcterms:W3CDTF">2026-07-17T16:00:13Z</dcterms:created>
  <dcterms:modified xsi:type="dcterms:W3CDTF">2026-09-06T15:15:25Z</dcterms:modified>
</cp:coreProperties>
</file>