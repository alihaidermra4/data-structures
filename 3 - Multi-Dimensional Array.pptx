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86" r:id="rId16"/>
    <p:sldId id="279" r:id="rId17"/>
    <p:sldId id="280" r:id="rId18"/>
    <p:sldId id="281" r:id="rId19"/>
    <p:sldId id="282" r:id="rId20"/>
    <p:sldId id="283" r:id="rId21"/>
    <p:sldId id="284" r:id="rId22"/>
    <p:sldId id="287" r:id="rId23"/>
    <p:sldId id="285" r:id="rId24"/>
    <p:sldId id="264" r:id="rId25"/>
    <p:sldId id="265" r:id="rId26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48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21/09/2026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21/09/2026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3DCD-C6C5-54A4-C574-7132D7C8F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Multi-Dimensional Arrays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B589-924F-9B4D-7984-DD4631732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multi-dimensional array generalizes the 1D array concept to multiple indices instead of one. </a:t>
            </a:r>
          </a:p>
          <a:p>
            <a:r>
              <a:rPr lang="en-GB" dirty="0"/>
              <a:t>General declaration syntax:</a:t>
            </a:r>
          </a:p>
          <a:p>
            <a:pPr marL="0" indent="0">
              <a:buNone/>
            </a:pPr>
            <a:r>
              <a:rPr lang="en-GB" dirty="0"/>
              <a:t>		datatype </a:t>
            </a:r>
            <a:r>
              <a:rPr lang="en-GB" dirty="0" err="1"/>
              <a:t>arrayName</a:t>
            </a:r>
            <a:r>
              <a:rPr lang="en-GB" dirty="0"/>
              <a:t>[size1][size2]...[</a:t>
            </a:r>
            <a:r>
              <a:rPr lang="en-GB" dirty="0" err="1"/>
              <a:t>sizeN</a:t>
            </a:r>
            <a:r>
              <a:rPr lang="en-GB" dirty="0"/>
              <a:t>];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Examples:</a:t>
            </a:r>
          </a:p>
          <a:p>
            <a:pPr marL="0" indent="0">
              <a:buNone/>
            </a:pPr>
            <a:r>
              <a:rPr lang="en-GB" dirty="0"/>
              <a:t>	int A[5][2][3]; // 3D array </a:t>
            </a:r>
          </a:p>
          <a:p>
            <a:pPr marL="0" indent="0">
              <a:buNone/>
            </a:pPr>
            <a:r>
              <a:rPr lang="en-GB" dirty="0"/>
              <a:t>	float B[2][5][3]; // 3D array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14490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05DA-8AB6-24AA-B6ED-3E032091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 2D Array?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209BA-5ED9-6F1D-720D-69A616057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2D array A[R][C] is a table with R rows and C columns, containing R × C elements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Stored in row-major order in C++ (all of row 0, then all of row 1, and so on)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Accessed using two indices: A[row][col]</a:t>
            </a:r>
          </a:p>
          <a:p>
            <a:pPr marL="0" indent="0">
              <a:buNone/>
            </a:pPr>
            <a:r>
              <a:rPr lang="en-GB" dirty="0"/>
              <a:t>		int A[3][3] = { {1, 2, 3}, {4, 5, 6}, {7, 8, 9} };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2991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69834-D249-6F5E-1DE3-7E3C9E392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Traversal The Basic Idea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0202-AE94-EEF1-73DB-6AAFF5465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2D array needs two nested loops: the outer loop walks through rows, the inner loop walks through columns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Each cell A[r][c] is visited exactly once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Order of visiting matters: row-major traversal (default in C++) visits an entire row before moving to the next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37939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74D2-AC2D-72A4-E190-EB3D82C96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Row-Major Traversal - Code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D89CB-AD39-F01E-D358-228CF2D28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err="1"/>
              <a:t>const</a:t>
            </a:r>
            <a:r>
              <a:rPr lang="en-GB" dirty="0"/>
              <a:t> int ROWS = 3, COLS = 3; </a:t>
            </a:r>
          </a:p>
          <a:p>
            <a:pPr marL="0" indent="0">
              <a:buNone/>
            </a:pPr>
            <a:r>
              <a:rPr lang="en-GB" dirty="0"/>
              <a:t>int A[ROWS][COLS] = { {1, 2, 3}, {4, 5, 6}, {7, 8, 9} }; </a:t>
            </a:r>
          </a:p>
          <a:p>
            <a:pPr marL="0" indent="0">
              <a:buNone/>
            </a:pPr>
            <a:r>
              <a:rPr lang="en-GB" dirty="0"/>
              <a:t>for (int r = 0; r &lt; ROWS; r++) { </a:t>
            </a:r>
          </a:p>
          <a:p>
            <a:pPr marL="0" indent="0">
              <a:buNone/>
            </a:pPr>
            <a:r>
              <a:rPr lang="en-GB" dirty="0"/>
              <a:t>	for (int c = 0; c &lt; COLS; </a:t>
            </a:r>
            <a:r>
              <a:rPr lang="en-GB" dirty="0" err="1"/>
              <a:t>c++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			 cout &lt;&lt; A[r][c] &lt;&lt; "\t"; </a:t>
            </a:r>
          </a:p>
          <a:p>
            <a:pPr marL="0" indent="0">
              <a:buNone/>
            </a:pPr>
            <a:r>
              <a:rPr lang="en-GB" dirty="0"/>
              <a:t>						} </a:t>
            </a:r>
          </a:p>
          <a:p>
            <a:pPr marL="0" indent="0">
              <a:buNone/>
            </a:pPr>
            <a:r>
              <a:rPr lang="en-GB" dirty="0"/>
              <a:t>	cout &lt;&lt; </a:t>
            </a:r>
            <a:r>
              <a:rPr lang="en-GB" dirty="0" err="1"/>
              <a:t>endl</a:t>
            </a:r>
            <a:r>
              <a:rPr lang="en-GB" dirty="0"/>
              <a:t>; 		}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96309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F5808-4016-5015-6944-14C432CE7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Column-Major Traversal - Code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EC957-1AB5-5FA7-D495-81C5F7416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for (int c = 0; c &lt; COLS; </a:t>
            </a:r>
            <a:r>
              <a:rPr lang="en-GB" dirty="0" err="1"/>
              <a:t>c++</a:t>
            </a:r>
            <a:r>
              <a:rPr lang="en-GB" dirty="0"/>
              <a:t>) { </a:t>
            </a:r>
          </a:p>
          <a:p>
            <a:pPr marL="0" indent="0">
              <a:buNone/>
            </a:pPr>
            <a:r>
              <a:rPr lang="en-GB" dirty="0"/>
              <a:t>	for (int r = 0; r &lt; ROWS; r++) { </a:t>
            </a:r>
          </a:p>
          <a:p>
            <a:pPr marL="0" indent="0">
              <a:buNone/>
            </a:pPr>
            <a:r>
              <a:rPr lang="en-GB" dirty="0"/>
              <a:t>			cout &lt;&lt; A[r][c] &lt;&lt; "\t"; </a:t>
            </a:r>
          </a:p>
          <a:p>
            <a:pPr marL="0" indent="0">
              <a:buNone/>
            </a:pPr>
            <a:r>
              <a:rPr lang="en-GB" dirty="0"/>
              <a:t>						} </a:t>
            </a:r>
          </a:p>
          <a:p>
            <a:pPr marL="0" indent="0">
              <a:buNone/>
            </a:pPr>
            <a:r>
              <a:rPr lang="en-GB" dirty="0"/>
              <a:t>	cout &lt;&lt; </a:t>
            </a:r>
            <a:r>
              <a:rPr lang="en-GB" dirty="0" err="1"/>
              <a:t>endl</a:t>
            </a:r>
            <a:r>
              <a:rPr lang="en-GB" dirty="0"/>
              <a:t>; </a:t>
            </a:r>
          </a:p>
          <a:p>
            <a:pPr marL="0" indent="0">
              <a:buNone/>
            </a:pPr>
            <a:r>
              <a:rPr lang="en-GB" dirty="0"/>
              <a:t>						}</a:t>
            </a:r>
            <a:endParaRPr lang="en-PK" dirty="0"/>
          </a:p>
          <a:p>
            <a:r>
              <a:rPr lang="en-GB" b="1" dirty="0"/>
              <a:t>Note:</a:t>
            </a:r>
            <a:r>
              <a:rPr lang="en-GB" dirty="0"/>
              <a:t> This is still valid C++ - you're just choosing to </a:t>
            </a:r>
            <a:r>
              <a:rPr lang="en-GB" i="1" dirty="0"/>
              <a:t>visit</a:t>
            </a:r>
            <a:r>
              <a:rPr lang="en-GB" dirty="0"/>
              <a:t> the array column-by-column. The array is still stored row-major internally; this only changes the order of access, not the storage.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54984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4D44B-3014-EC50-99E3-8B6C091D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Matrix Traversal Tasks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A9FE57-B0C5-0762-A1BE-20E7905F7A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3236686"/>
              </p:ext>
            </p:extLst>
          </p:nvPr>
        </p:nvGraphicFramePr>
        <p:xfrm>
          <a:off x="838200" y="1885503"/>
          <a:ext cx="10515600" cy="358987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471930">
                  <a:extLst>
                    <a:ext uri="{9D8B030D-6E8A-4147-A177-3AD203B41FA5}">
                      <a16:colId xmlns:a16="http://schemas.microsoft.com/office/drawing/2014/main" val="2273701500"/>
                    </a:ext>
                  </a:extLst>
                </a:gridCol>
                <a:gridCol w="6043670">
                  <a:extLst>
                    <a:ext uri="{9D8B030D-6E8A-4147-A177-3AD203B41FA5}">
                      <a16:colId xmlns:a16="http://schemas.microsoft.com/office/drawing/2014/main" val="491587325"/>
                    </a:ext>
                  </a:extLst>
                </a:gridCol>
              </a:tblGrid>
              <a:tr h="531834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Task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How Traversal Is Used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3221050"/>
                  </a:ext>
                </a:extLst>
              </a:tr>
              <a:tr h="531834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Sum of all elements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Visit every cell once and accumulate the total.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4134210"/>
                  </a:ext>
                </a:extLst>
              </a:tr>
              <a:tr h="531834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Row sums / Column sums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Use an accumulator inside or outside the inner loop.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3972375"/>
                  </a:ext>
                </a:extLst>
              </a:tr>
              <a:tr h="531834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Finding max/min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Compare each cell during a single full traversal.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658043"/>
                  </a:ext>
                </a:extLst>
              </a:tr>
              <a:tr h="930709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Printing a matrix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Use row-major traversal with a newline after each row.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656279"/>
                  </a:ext>
                </a:extLst>
              </a:tr>
              <a:tr h="531834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Diagonal traversal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Visit only cells where r == c (main diagonal).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9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765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480C-0038-759E-09FF-315CCACA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Row Sum and Column Sum - Code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2489B-9C50-17C5-2524-F85E2E060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// Row sums</a:t>
            </a:r>
          </a:p>
          <a:p>
            <a:pPr marL="0" indent="0">
              <a:buNone/>
            </a:pPr>
            <a:r>
              <a:rPr lang="en-GB" dirty="0"/>
              <a:t>for (int r = 0; r &lt; ROWS; r++) {</a:t>
            </a:r>
          </a:p>
          <a:p>
            <a:pPr marL="0" indent="0">
              <a:buNone/>
            </a:pPr>
            <a:r>
              <a:rPr lang="en-GB" dirty="0"/>
              <a:t>    int </a:t>
            </a:r>
            <a:r>
              <a:rPr lang="en-GB" dirty="0" err="1"/>
              <a:t>rowSum</a:t>
            </a:r>
            <a:r>
              <a:rPr lang="en-GB" dirty="0"/>
              <a:t> = 0;</a:t>
            </a:r>
          </a:p>
          <a:p>
            <a:pPr marL="0" indent="0">
              <a:buNone/>
            </a:pPr>
            <a:r>
              <a:rPr lang="en-GB" dirty="0"/>
              <a:t>    for (int c = 0; c &lt; COLS; </a:t>
            </a:r>
            <a:r>
              <a:rPr lang="en-GB" dirty="0" err="1"/>
              <a:t>c++</a:t>
            </a:r>
            <a:r>
              <a:rPr lang="en-GB" dirty="0"/>
              <a:t>)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rowSum</a:t>
            </a:r>
            <a:r>
              <a:rPr lang="en-GB" dirty="0"/>
              <a:t> += A[r][c];</a:t>
            </a:r>
          </a:p>
          <a:p>
            <a:pPr marL="0" indent="0">
              <a:buNone/>
            </a:pPr>
            <a:r>
              <a:rPr lang="en-GB" dirty="0"/>
              <a:t>    cout &lt;&lt; "Sum of row " &lt;&lt; r &lt;&lt; " = " &lt;&lt; </a:t>
            </a:r>
            <a:r>
              <a:rPr lang="en-GB" dirty="0" err="1"/>
              <a:t>rowSum</a:t>
            </a:r>
            <a:r>
              <a:rPr lang="en-GB" dirty="0"/>
              <a:t>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Column sums</a:t>
            </a:r>
          </a:p>
          <a:p>
            <a:pPr marL="0" indent="0">
              <a:buNone/>
            </a:pPr>
            <a:r>
              <a:rPr lang="en-GB" dirty="0"/>
              <a:t>for (int c = 0; c &lt; COLS; </a:t>
            </a:r>
            <a:r>
              <a:rPr lang="en-GB" dirty="0" err="1"/>
              <a:t>c++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int </a:t>
            </a:r>
            <a:r>
              <a:rPr lang="en-GB" dirty="0" err="1"/>
              <a:t>colSum</a:t>
            </a:r>
            <a:r>
              <a:rPr lang="en-GB" dirty="0"/>
              <a:t> = 0;</a:t>
            </a:r>
          </a:p>
          <a:p>
            <a:pPr marL="0" indent="0">
              <a:buNone/>
            </a:pPr>
            <a:r>
              <a:rPr lang="en-GB" dirty="0"/>
              <a:t>    for (int r = 0; r &lt; ROWS; r++)</a:t>
            </a:r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colSum</a:t>
            </a:r>
            <a:r>
              <a:rPr lang="en-GB" dirty="0"/>
              <a:t> += A[r][c];</a:t>
            </a:r>
          </a:p>
          <a:p>
            <a:pPr marL="0" indent="0">
              <a:buNone/>
            </a:pPr>
            <a:r>
              <a:rPr lang="en-GB" dirty="0"/>
              <a:t>    cout &lt;&lt; "Sum of column " &lt;&lt; c &lt;&lt; " = " &lt;&lt; </a:t>
            </a:r>
            <a:r>
              <a:rPr lang="en-GB" dirty="0" err="1"/>
              <a:t>colSum</a:t>
            </a:r>
            <a:r>
              <a:rPr lang="en-GB" dirty="0"/>
              <a:t> &lt;&lt; </a:t>
            </a:r>
            <a:r>
              <a:rPr lang="en-GB" dirty="0" err="1"/>
              <a:t>endl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7481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0749-9547-E675-745E-7C685D2C9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Transition - Insertion in 2D Arrays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9163E-0DF4-8AD7-3953-5B210F770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Same three cases as before: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Insert a value within a specific row (shift that row right)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Insert an entire new row (shift rows below it down)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Insert an entire new column (shift columns to its right)</a:t>
            </a:r>
          </a:p>
          <a:p>
            <a:pPr rtl="0"/>
            <a:r>
              <a:rPr lang="en-GB" dirty="0"/>
              <a:t>Key idea carried over from 1D: shifting is still required - a 2D array is just contiguous memory too, so nothing can be inserted "in between" without moving existing data.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306302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4748C-DAC1-967E-23E1-2B0D2EC04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- Value Within a Row</a:t>
            </a:r>
            <a:endParaRPr lang="en-PK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7FD60-459F-10C1-0772-6A5D1BED9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rtl="0"/>
            <a:r>
              <a:rPr lang="en-GB" b="1" dirty="0"/>
              <a:t>Goal:</a:t>
            </a:r>
            <a:r>
              <a:rPr lang="en-GB" dirty="0"/>
              <a:t> Insert value at column </a:t>
            </a:r>
            <a:r>
              <a:rPr lang="en-GB" dirty="0" err="1"/>
              <a:t>pos</a:t>
            </a:r>
            <a:r>
              <a:rPr lang="en-GB" dirty="0"/>
              <a:t> in row r, shifting that row's elements right.</a:t>
            </a:r>
          </a:p>
          <a:p>
            <a:pPr marL="457200" lvl="1" indent="0">
              <a:buNone/>
            </a:pPr>
            <a:r>
              <a:rPr lang="en-GB" dirty="0"/>
              <a:t>void </a:t>
            </a:r>
            <a:r>
              <a:rPr lang="en-GB" dirty="0" err="1"/>
              <a:t>insertInRow</a:t>
            </a:r>
            <a:r>
              <a:rPr lang="en-GB" dirty="0"/>
              <a:t>(int A[][10], int &amp;</a:t>
            </a:r>
            <a:r>
              <a:rPr lang="en-GB" dirty="0" err="1"/>
              <a:t>rowSize</a:t>
            </a:r>
            <a:r>
              <a:rPr lang="en-GB" dirty="0"/>
              <a:t>, int r, int </a:t>
            </a:r>
            <a:r>
              <a:rPr lang="en-GB" dirty="0" err="1"/>
              <a:t>pos</a:t>
            </a:r>
            <a:r>
              <a:rPr lang="en-GB" dirty="0"/>
              <a:t>, int value) </a:t>
            </a:r>
          </a:p>
          <a:p>
            <a:pPr marL="457200" lvl="1" indent="0">
              <a:buNone/>
            </a:pPr>
            <a:r>
              <a:rPr lang="en-GB" dirty="0"/>
              <a:t>{ </a:t>
            </a:r>
          </a:p>
          <a:p>
            <a:pPr marL="457200" lvl="1" indent="0">
              <a:buNone/>
            </a:pPr>
            <a:r>
              <a:rPr lang="en-GB" dirty="0"/>
              <a:t>for (int c = </a:t>
            </a:r>
            <a:r>
              <a:rPr lang="en-GB" dirty="0" err="1"/>
              <a:t>rowSize</a:t>
            </a:r>
            <a:r>
              <a:rPr lang="en-GB" dirty="0"/>
              <a:t>; c &gt; </a:t>
            </a:r>
            <a:r>
              <a:rPr lang="en-GB" dirty="0" err="1"/>
              <a:t>pos</a:t>
            </a:r>
            <a:r>
              <a:rPr lang="en-GB" dirty="0"/>
              <a:t>; c--) { </a:t>
            </a:r>
          </a:p>
          <a:p>
            <a:pPr marL="457200" lvl="1" indent="0">
              <a:buNone/>
            </a:pPr>
            <a:r>
              <a:rPr lang="en-GB" dirty="0"/>
              <a:t>	A[r][c] = A[r][c - 1]; 		} </a:t>
            </a:r>
          </a:p>
          <a:p>
            <a:pPr marL="457200" lvl="1" indent="0">
              <a:buNone/>
            </a:pPr>
            <a:r>
              <a:rPr lang="en-GB" dirty="0"/>
              <a:t>A[r][</a:t>
            </a:r>
            <a:r>
              <a:rPr lang="en-GB" dirty="0" err="1"/>
              <a:t>pos</a:t>
            </a:r>
            <a:r>
              <a:rPr lang="en-GB" dirty="0"/>
              <a:t>] = value; </a:t>
            </a:r>
            <a:r>
              <a:rPr lang="en-GB" dirty="0" err="1"/>
              <a:t>rowSize</a:t>
            </a:r>
            <a:r>
              <a:rPr lang="en-GB" dirty="0"/>
              <a:t>++; </a:t>
            </a:r>
          </a:p>
          <a:p>
            <a:pPr marL="457200" lvl="1" indent="0">
              <a:buNone/>
            </a:pPr>
            <a:r>
              <a:rPr lang="en-GB" dirty="0"/>
              <a:t>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Identical logic to 1D insertion - applied to just one row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Other rows are untouched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b="1" dirty="0"/>
              <a:t>Time Complexity:</a:t>
            </a:r>
            <a:r>
              <a:rPr lang="en-GB" dirty="0"/>
              <a:t> O(C) - same shifting cost as a 1D array of size C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4897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9CBA9-7E84-3A4D-AFBC-0D025D40C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>
                <a:latin typeface="Times New Roman" panose="02020603050405020304" pitchFamily="18" charset="0"/>
              </a:rPr>
              <a:t>Insertion - Dry Run (Value in a Row)</a:t>
            </a:r>
            <a:endParaRPr lang="en-PK" b="1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4FC304-F182-BC55-38DC-2761D24E0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9859653"/>
              </p:ext>
            </p:extLst>
          </p:nvPr>
        </p:nvGraphicFramePr>
        <p:xfrm>
          <a:off x="838200" y="2434957"/>
          <a:ext cx="10515600" cy="29412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6957417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43671117"/>
                    </a:ext>
                  </a:extLst>
                </a:gridCol>
              </a:tblGrid>
              <a:tr h="588255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Row 1 State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2461967"/>
                  </a:ext>
                </a:extLst>
              </a:tr>
              <a:tr h="58825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592430"/>
                  </a:ext>
                </a:extLst>
              </a:tr>
              <a:tr h="58825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index 2 → 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4, 5, 6, 6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740558"/>
                  </a:ext>
                </a:extLst>
              </a:tr>
              <a:tr h="58825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index 1 → 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4696654"/>
                  </a:ext>
                </a:extLst>
              </a:tr>
              <a:tr h="588255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Place 99 at index 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4, 99, 5, 6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518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36C9E6-55BD-4652-A5CB-7691B10B91AC}"/>
              </a:ext>
            </a:extLst>
          </p:cNvPr>
          <p:cNvSpPr txBox="1"/>
          <p:nvPr/>
        </p:nvSpPr>
        <p:spPr>
          <a:xfrm>
            <a:off x="838199" y="1878156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GB" dirty="0">
                <a:latin typeface="Times New Roman" panose="02020603050405020304" pitchFamily="18" charset="0"/>
              </a:rPr>
              <a:t>Row 1 before: 4, 5, 6 → Insert 99 at position 1</a:t>
            </a:r>
          </a:p>
        </p:txBody>
      </p:sp>
    </p:spTree>
    <p:extLst>
      <p:ext uri="{BB962C8B-B14F-4D97-AF65-F5344CB8AC3E}">
        <p14:creationId xmlns:p14="http://schemas.microsoft.com/office/powerpoint/2010/main" val="2326130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1B48-CC12-C049-34A5-D18862933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- Entire New Row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48257-262A-1F36-017F-06FEC42C9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41466"/>
          </a:xfrm>
        </p:spPr>
        <p:txBody>
          <a:bodyPr>
            <a:normAutofit fontScale="85000" lnSpcReduction="20000"/>
          </a:bodyPr>
          <a:lstStyle/>
          <a:p>
            <a:pPr rtl="0"/>
            <a:r>
              <a:rPr lang="en-GB" b="1" dirty="0"/>
              <a:t>Goal:</a:t>
            </a:r>
            <a:r>
              <a:rPr lang="en-GB" dirty="0"/>
              <a:t> Insert a full row at row index </a:t>
            </a:r>
            <a:r>
              <a:rPr lang="en-GB" dirty="0" err="1"/>
              <a:t>pos</a:t>
            </a:r>
            <a:r>
              <a:rPr lang="en-GB" dirty="0"/>
              <a:t>, shifting all rows below it down by one.</a:t>
            </a:r>
          </a:p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insertRow</a:t>
            </a:r>
            <a:r>
              <a:rPr lang="en-GB" dirty="0"/>
              <a:t>(int A[][10], int &amp;</a:t>
            </a:r>
            <a:r>
              <a:rPr lang="en-GB" dirty="0" err="1"/>
              <a:t>numRows</a:t>
            </a:r>
            <a:r>
              <a:rPr lang="en-GB" dirty="0"/>
              <a:t>, int cols, int </a:t>
            </a:r>
            <a:r>
              <a:rPr lang="en-GB" dirty="0" err="1"/>
              <a:t>pos</a:t>
            </a:r>
            <a:r>
              <a:rPr lang="en-GB" dirty="0"/>
              <a:t>, int </a:t>
            </a:r>
            <a:r>
              <a:rPr lang="en-GB" dirty="0" err="1"/>
              <a:t>newRow</a:t>
            </a:r>
            <a:r>
              <a:rPr lang="en-GB" dirty="0"/>
              <a:t>[]) </a:t>
            </a:r>
          </a:p>
          <a:p>
            <a:pPr marL="0" indent="0">
              <a:buNone/>
            </a:pPr>
            <a:r>
              <a:rPr lang="en-GB" dirty="0"/>
              <a:t>{ </a:t>
            </a:r>
          </a:p>
          <a:p>
            <a:pPr marL="0" indent="0">
              <a:buNone/>
            </a:pPr>
            <a:r>
              <a:rPr lang="en-GB" dirty="0"/>
              <a:t>	for (int r = </a:t>
            </a:r>
            <a:r>
              <a:rPr lang="en-GB" dirty="0" err="1"/>
              <a:t>numRows</a:t>
            </a:r>
            <a:r>
              <a:rPr lang="en-GB" dirty="0"/>
              <a:t>; r &gt; </a:t>
            </a:r>
            <a:r>
              <a:rPr lang="en-GB" dirty="0" err="1"/>
              <a:t>pos</a:t>
            </a:r>
            <a:r>
              <a:rPr lang="en-GB" dirty="0"/>
              <a:t>; r--) { </a:t>
            </a:r>
          </a:p>
          <a:p>
            <a:pPr marL="0" indent="0">
              <a:buNone/>
            </a:pPr>
            <a:r>
              <a:rPr lang="en-GB" dirty="0"/>
              <a:t>		for (int c = 0; c &lt; cols; </a:t>
            </a:r>
            <a:r>
              <a:rPr lang="en-GB" dirty="0" err="1"/>
              <a:t>c++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			A[r][c] = A[r - 1][c]; // shift entire row down </a:t>
            </a:r>
          </a:p>
          <a:p>
            <a:pPr marL="0" indent="0">
              <a:buNone/>
            </a:pPr>
            <a:r>
              <a:rPr lang="en-GB" dirty="0"/>
              <a:t>						} </a:t>
            </a:r>
          </a:p>
          <a:p>
            <a:pPr marL="0" indent="0">
              <a:buNone/>
            </a:pPr>
            <a:r>
              <a:rPr lang="en-GB" dirty="0"/>
              <a:t>		for (int c = 0; c &lt; cols; </a:t>
            </a:r>
            <a:r>
              <a:rPr lang="en-GB" dirty="0" err="1"/>
              <a:t>c++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			A[</a:t>
            </a:r>
            <a:r>
              <a:rPr lang="en-GB" dirty="0" err="1"/>
              <a:t>pos</a:t>
            </a:r>
            <a:r>
              <a:rPr lang="en-GB" dirty="0"/>
              <a:t>][c] = </a:t>
            </a:r>
            <a:r>
              <a:rPr lang="en-GB" dirty="0" err="1"/>
              <a:t>newRow</a:t>
            </a:r>
            <a:r>
              <a:rPr lang="en-GB" dirty="0"/>
              <a:t>[c]; // insert new row </a:t>
            </a:r>
            <a:r>
              <a:rPr lang="en-GB" dirty="0" err="1"/>
              <a:t>numRows</a:t>
            </a:r>
            <a:r>
              <a:rPr lang="en-GB" dirty="0"/>
              <a:t>++; 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Notice the </a:t>
            </a:r>
            <a:r>
              <a:rPr lang="en-GB" b="1" dirty="0"/>
              <a:t>nested shifting</a:t>
            </a:r>
            <a:r>
              <a:rPr lang="en-GB" dirty="0"/>
              <a:t>: each row shift is itself a loop over columns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b="1" dirty="0"/>
              <a:t>Time Complexity:</a:t>
            </a:r>
            <a:r>
              <a:rPr lang="en-GB" dirty="0"/>
              <a:t> O(R × C) worst case (shifting all rows, each with C columns)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691289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6FC73-1BBB-9FFE-CA86-4926E1D9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Insertion - Dry Run (New Row)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E7170-74FF-8B18-9798-8A50DC10A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Insert row [0, 0, 0] at row index 1: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3B48BF-BA3E-F024-B1C3-B5BF14DCF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566892"/>
              </p:ext>
            </p:extLst>
          </p:nvPr>
        </p:nvGraphicFramePr>
        <p:xfrm>
          <a:off x="838200" y="2514600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815328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410831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Before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After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3731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0:</a:t>
                      </a:r>
                      <a:r>
                        <a:rPr lang="en-GB"/>
                        <a:t> 1 2 3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0:</a:t>
                      </a:r>
                      <a:r>
                        <a:rPr lang="en-GB"/>
                        <a:t> 1 2 3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384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1:</a:t>
                      </a:r>
                      <a:r>
                        <a:rPr lang="en-GB"/>
                        <a:t> 4 5 6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1:</a:t>
                      </a:r>
                      <a:r>
                        <a:rPr lang="en-GB"/>
                        <a:t> 0 0 0 ← New row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864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2:</a:t>
                      </a:r>
                      <a:r>
                        <a:rPr lang="en-GB"/>
                        <a:t> 7 8 9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2:</a:t>
                      </a:r>
                      <a:r>
                        <a:rPr lang="en-GB"/>
                        <a:t> 4 5 6 ← Shifted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2653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P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Row 3:</a:t>
                      </a:r>
                      <a:r>
                        <a:rPr lang="en-GB" dirty="0"/>
                        <a:t> 7 8 9 ← Shifted down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7326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25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E646F-FE4A-A112-CA53-9CB3CB1C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Insertion - Entire New Column</a:t>
            </a:r>
            <a:br>
              <a:rPr lang="en-GB" b="1" dirty="0"/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D5A17-80D1-203D-7473-5CE92D03C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/>
            <a:r>
              <a:rPr lang="en-GB" dirty="0"/>
              <a:t>Goal: Insert a full column at column index </a:t>
            </a:r>
            <a:r>
              <a:rPr lang="en-GB" dirty="0" err="1"/>
              <a:t>pos</a:t>
            </a:r>
            <a:r>
              <a:rPr lang="en-GB" dirty="0"/>
              <a:t>, shifting all columns to its right.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Every row must be shifted individually - column insertion touches all rows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Time Complexity: O(R × C)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28007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ED556-A297-A5AA-4841-1C49F086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349"/>
            <a:ext cx="10515600" cy="5295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insertColumn</a:t>
            </a:r>
            <a:r>
              <a:rPr lang="en-GB" dirty="0"/>
              <a:t>(int A[][10], int rows, int &amp;</a:t>
            </a:r>
            <a:r>
              <a:rPr lang="en-GB" dirty="0" err="1"/>
              <a:t>numCols</a:t>
            </a:r>
            <a:r>
              <a:rPr lang="en-GB" dirty="0"/>
              <a:t>, int </a:t>
            </a:r>
            <a:r>
              <a:rPr lang="en-GB" dirty="0" err="1"/>
              <a:t>pos</a:t>
            </a:r>
            <a:r>
              <a:rPr lang="en-GB" dirty="0"/>
              <a:t>, int </a:t>
            </a:r>
            <a:r>
              <a:rPr lang="en-GB" dirty="0" err="1"/>
              <a:t>newCol</a:t>
            </a:r>
            <a:r>
              <a:rPr lang="en-GB" dirty="0"/>
              <a:t>[]) </a:t>
            </a:r>
          </a:p>
          <a:p>
            <a:pPr marL="0" indent="0">
              <a:buNone/>
            </a:pPr>
            <a:r>
              <a:rPr lang="en-GB" dirty="0"/>
              <a:t>{ </a:t>
            </a:r>
          </a:p>
          <a:p>
            <a:pPr marL="0" indent="0">
              <a:buNone/>
            </a:pPr>
            <a:r>
              <a:rPr lang="en-GB" dirty="0"/>
              <a:t>	for (int r = 0; r &lt; rows; r++) </a:t>
            </a:r>
          </a:p>
          <a:p>
            <a:pPr marL="0" indent="0">
              <a:buNone/>
            </a:pPr>
            <a:r>
              <a:rPr lang="en-GB" dirty="0"/>
              <a:t>	{ </a:t>
            </a:r>
          </a:p>
          <a:p>
            <a:pPr marL="0" indent="0">
              <a:buNone/>
            </a:pPr>
            <a:r>
              <a:rPr lang="en-GB" dirty="0"/>
              <a:t>		for (int c = </a:t>
            </a:r>
            <a:r>
              <a:rPr lang="en-GB" dirty="0" err="1"/>
              <a:t>numCols</a:t>
            </a:r>
            <a:r>
              <a:rPr lang="en-GB" dirty="0"/>
              <a:t>; c &gt; </a:t>
            </a:r>
            <a:r>
              <a:rPr lang="en-GB" dirty="0" err="1"/>
              <a:t>pos</a:t>
            </a:r>
            <a:r>
              <a:rPr lang="en-GB" dirty="0"/>
              <a:t>; c--) </a:t>
            </a:r>
          </a:p>
          <a:p>
            <a:pPr marL="0" indent="0">
              <a:buNone/>
            </a:pPr>
            <a:r>
              <a:rPr lang="en-GB" dirty="0"/>
              <a:t>				A[r][c] = A[r][c - 1]; </a:t>
            </a:r>
            <a:r>
              <a:rPr lang="en-GB" sz="2400" dirty="0"/>
              <a:t>// shift row elements right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	A[r][</a:t>
            </a:r>
            <a:r>
              <a:rPr lang="en-GB" dirty="0" err="1"/>
              <a:t>pos</a:t>
            </a:r>
            <a:r>
              <a:rPr lang="en-GB" dirty="0"/>
              <a:t>] = </a:t>
            </a:r>
            <a:r>
              <a:rPr lang="en-GB" dirty="0" err="1"/>
              <a:t>newCol</a:t>
            </a:r>
            <a:r>
              <a:rPr lang="en-GB" dirty="0"/>
              <a:t>[r]; 	</a:t>
            </a:r>
            <a:r>
              <a:rPr lang="en-GB" sz="2400" dirty="0"/>
              <a:t>// insert new column value </a:t>
            </a:r>
          </a:p>
          <a:p>
            <a:pPr marL="0" indent="0">
              <a:buNone/>
            </a:pPr>
            <a:r>
              <a:rPr lang="en-GB" dirty="0"/>
              <a:t>	} 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numCols</a:t>
            </a:r>
            <a:r>
              <a:rPr lang="en-GB" dirty="0"/>
              <a:t>++; 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202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1C087-9193-D8DE-D76C-7CCA3DF64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Transition - Deletion in 2D Arrays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6580B-3DDE-A40F-8C68-3FE28850F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Same three mirrored cases: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Delete a value within a specific row (shift that row left)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Delete an entire row (shift rows below it up)</a:t>
            </a:r>
          </a:p>
          <a:p>
            <a:pPr lvl="1">
              <a:buFont typeface="+mj-lt"/>
              <a:buAutoNum type="arabicPeriod"/>
            </a:pPr>
            <a:r>
              <a:rPr lang="en-GB" dirty="0"/>
              <a:t>Delete an entire column (shift columns to its left)</a:t>
            </a:r>
          </a:p>
          <a:p>
            <a:pPr rtl="0"/>
            <a:r>
              <a:rPr lang="en-GB" dirty="0"/>
              <a:t>Reminder from 1D: deletion shifts in the opposite direction of insertion - left instead of right - for the same reason: avoid overwriting data before it's copied.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10810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16088-1E5C-0118-4511-6443B2A7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Deletion - Value Within a Row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735F-F736-1CCF-E818-5EC0EECA4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rtl="0"/>
            <a:r>
              <a:rPr lang="en-GB" dirty="0"/>
              <a:t>Goal: Delete the value at column </a:t>
            </a:r>
            <a:r>
              <a:rPr lang="en-GB" dirty="0" err="1"/>
              <a:t>pos</a:t>
            </a:r>
            <a:r>
              <a:rPr lang="en-GB" dirty="0"/>
              <a:t> in row r, shifting that row's elements left.</a:t>
            </a:r>
          </a:p>
          <a:p>
            <a:pPr marL="457200" lvl="1" indent="0">
              <a:buNone/>
            </a:pPr>
            <a:r>
              <a:rPr lang="en-GB" dirty="0"/>
              <a:t>void </a:t>
            </a:r>
            <a:r>
              <a:rPr lang="en-GB" dirty="0" err="1"/>
              <a:t>deleteInRow</a:t>
            </a:r>
            <a:r>
              <a:rPr lang="en-GB" dirty="0"/>
              <a:t>(int A[][10], int &amp;</a:t>
            </a:r>
            <a:r>
              <a:rPr lang="en-GB" dirty="0" err="1"/>
              <a:t>rowSize</a:t>
            </a:r>
            <a:r>
              <a:rPr lang="en-GB" dirty="0"/>
              <a:t>, int r, int </a:t>
            </a:r>
            <a:r>
              <a:rPr lang="en-GB" dirty="0" err="1"/>
              <a:t>pos</a:t>
            </a:r>
            <a:r>
              <a:rPr lang="en-GB" dirty="0"/>
              <a:t>) </a:t>
            </a:r>
          </a:p>
          <a:p>
            <a:pPr marL="457200" lvl="1" indent="0">
              <a:buNone/>
            </a:pPr>
            <a:r>
              <a:rPr lang="en-GB" dirty="0"/>
              <a:t>{ </a:t>
            </a:r>
          </a:p>
          <a:p>
            <a:pPr marL="914400" lvl="2" indent="0">
              <a:buNone/>
            </a:pPr>
            <a:r>
              <a:rPr lang="en-GB" sz="2200" dirty="0"/>
              <a:t>for (int c = </a:t>
            </a:r>
            <a:r>
              <a:rPr lang="en-GB" sz="2200" dirty="0" err="1"/>
              <a:t>pos</a:t>
            </a:r>
            <a:r>
              <a:rPr lang="en-GB" sz="2200" dirty="0"/>
              <a:t>; c &lt; </a:t>
            </a:r>
            <a:r>
              <a:rPr lang="en-GB" sz="2200" dirty="0" err="1"/>
              <a:t>rowSize</a:t>
            </a:r>
            <a:r>
              <a:rPr lang="en-GB" sz="2200" dirty="0"/>
              <a:t> - 1; </a:t>
            </a:r>
            <a:r>
              <a:rPr lang="en-GB" sz="2200" dirty="0" err="1"/>
              <a:t>c++</a:t>
            </a:r>
            <a:r>
              <a:rPr lang="en-GB" sz="2200" dirty="0"/>
              <a:t>) </a:t>
            </a:r>
          </a:p>
          <a:p>
            <a:pPr marL="914400" lvl="2" indent="0">
              <a:buNone/>
            </a:pPr>
            <a:r>
              <a:rPr lang="en-GB" sz="2200" dirty="0"/>
              <a:t>{ </a:t>
            </a:r>
          </a:p>
          <a:p>
            <a:pPr marL="914400" lvl="2" indent="0">
              <a:buNone/>
            </a:pPr>
            <a:r>
              <a:rPr lang="en-GB" sz="2200" dirty="0"/>
              <a:t>	A[r][c] = A[r][c + 1]; </a:t>
            </a:r>
          </a:p>
          <a:p>
            <a:pPr marL="914400" lvl="2" indent="0">
              <a:buNone/>
            </a:pPr>
            <a:r>
              <a:rPr lang="en-GB" sz="2200" dirty="0"/>
              <a:t>} </a:t>
            </a:r>
          </a:p>
          <a:p>
            <a:pPr marL="914400" lvl="2" indent="0">
              <a:buNone/>
            </a:pPr>
            <a:r>
              <a:rPr lang="en-GB" sz="2200" dirty="0" err="1"/>
              <a:t>rowSize</a:t>
            </a:r>
            <a:r>
              <a:rPr lang="en-GB" sz="2200" dirty="0"/>
              <a:t>--; </a:t>
            </a:r>
            <a:endParaRPr lang="en-GB" dirty="0"/>
          </a:p>
          <a:p>
            <a:pPr marL="457200" lvl="1" indent="0">
              <a:buNone/>
            </a:pPr>
            <a:r>
              <a:rPr lang="en-GB" dirty="0"/>
              <a:t>}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Identical logic to 1D deletion - applied to just one row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Time Complexity: O(C)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23750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D147-85B7-F77C-F656-EFDC1FC5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Deletion - Dry Run (Value in a Row)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354B-9150-0A62-CB26-60478AB8B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Row 1 before: 4, 99, 5, 6 → Delete position 1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81F805-86C6-CA89-E782-23F3DA497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002150"/>
              </p:ext>
            </p:extLst>
          </p:nvPr>
        </p:nvGraphicFramePr>
        <p:xfrm>
          <a:off x="838200" y="2833506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977984">
                  <a:extLst>
                    <a:ext uri="{9D8B030D-6E8A-4147-A177-3AD203B41FA5}">
                      <a16:colId xmlns:a16="http://schemas.microsoft.com/office/drawing/2014/main" val="1756140399"/>
                    </a:ext>
                  </a:extLst>
                </a:gridCol>
                <a:gridCol w="5537616">
                  <a:extLst>
                    <a:ext uri="{9D8B030D-6E8A-4147-A177-3AD203B41FA5}">
                      <a16:colId xmlns:a16="http://schemas.microsoft.com/office/drawing/2014/main" val="597851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Step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Row 1 State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2923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4, 99, 5, 6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5110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index 1 → 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794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Shift index 2 → 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4, 5, 6, 6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9241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 err="1"/>
                        <a:t>rowSize</a:t>
                      </a:r>
                      <a:r>
                        <a:rPr lang="en-GB" b="0" dirty="0"/>
                        <a:t>--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4, 5, 6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6916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39310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D9FA8-1DE7-E79F-52A5-2BFCEA423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Deletion - Entire Row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477-BB01-B174-65D2-0F2E33FC2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pPr rtl="0"/>
            <a:r>
              <a:rPr lang="en-GB" dirty="0"/>
              <a:t>Goal: Delete row at index </a:t>
            </a:r>
            <a:r>
              <a:rPr lang="en-GB" dirty="0" err="1"/>
              <a:t>pos</a:t>
            </a:r>
            <a:r>
              <a:rPr lang="en-GB" dirty="0"/>
              <a:t>, shifting all rows below it up by one.</a:t>
            </a:r>
          </a:p>
          <a:p>
            <a:r>
              <a:rPr lang="en-GB" dirty="0"/>
              <a:t>Time Complexity: O(R × C) worst case</a:t>
            </a:r>
          </a:p>
          <a:p>
            <a:pPr marL="0" indent="0">
              <a:buNone/>
            </a:pPr>
            <a:r>
              <a:rPr lang="en-GB" dirty="0"/>
              <a:t>	void </a:t>
            </a:r>
            <a:r>
              <a:rPr lang="en-GB" dirty="0" err="1"/>
              <a:t>deleteRow</a:t>
            </a:r>
            <a:r>
              <a:rPr lang="en-GB" dirty="0"/>
              <a:t>(int A[][10], int &amp;</a:t>
            </a:r>
            <a:r>
              <a:rPr lang="en-GB" dirty="0" err="1"/>
              <a:t>numRows</a:t>
            </a:r>
            <a:r>
              <a:rPr lang="en-GB" dirty="0"/>
              <a:t>, int cols, int </a:t>
            </a:r>
            <a:r>
              <a:rPr lang="en-GB" dirty="0" err="1"/>
              <a:t>pos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	{ </a:t>
            </a:r>
          </a:p>
          <a:p>
            <a:pPr marL="0" indent="0">
              <a:buNone/>
            </a:pPr>
            <a:r>
              <a:rPr lang="en-GB" dirty="0"/>
              <a:t>		for (int r = </a:t>
            </a:r>
            <a:r>
              <a:rPr lang="en-GB" dirty="0" err="1"/>
              <a:t>pos</a:t>
            </a:r>
            <a:r>
              <a:rPr lang="en-GB" dirty="0"/>
              <a:t>; r &lt; </a:t>
            </a:r>
            <a:r>
              <a:rPr lang="en-GB" dirty="0" err="1"/>
              <a:t>numRows</a:t>
            </a:r>
            <a:r>
              <a:rPr lang="en-GB" dirty="0"/>
              <a:t> - 1; r++) </a:t>
            </a:r>
          </a:p>
          <a:p>
            <a:pPr marL="0" indent="0">
              <a:buNone/>
            </a:pPr>
            <a:r>
              <a:rPr lang="en-GB" dirty="0"/>
              <a:t>		{ </a:t>
            </a:r>
          </a:p>
          <a:p>
            <a:pPr marL="0" indent="0">
              <a:buNone/>
            </a:pPr>
            <a:r>
              <a:rPr lang="en-GB" dirty="0"/>
              <a:t>			for (int c = 0; c &lt; cols; </a:t>
            </a:r>
            <a:r>
              <a:rPr lang="en-GB" dirty="0" err="1"/>
              <a:t>c++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				A[r][c] = A[r + 1][c]; // shift row up </a:t>
            </a:r>
          </a:p>
          <a:p>
            <a:pPr marL="0" indent="0">
              <a:buNone/>
            </a:pPr>
            <a:r>
              <a:rPr lang="en-GB" dirty="0"/>
              <a:t>		 } </a:t>
            </a:r>
          </a:p>
          <a:p>
            <a:pPr marL="0" indent="0">
              <a:buNone/>
            </a:pPr>
            <a:r>
              <a:rPr lang="en-GB" dirty="0"/>
              <a:t>		 </a:t>
            </a:r>
            <a:r>
              <a:rPr lang="en-GB" dirty="0" err="1"/>
              <a:t>numRows</a:t>
            </a:r>
            <a:r>
              <a:rPr lang="en-GB" dirty="0"/>
              <a:t>--; </a:t>
            </a:r>
          </a:p>
          <a:p>
            <a:pPr marL="0" indent="0">
              <a:buNone/>
            </a:pPr>
            <a:r>
              <a:rPr lang="en-GB" dirty="0"/>
              <a:t>	}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83542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8D41-CF05-A05D-6E38-7F449F62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Deletion - Dry Run (Entire Row)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C400C-CB15-67A4-821D-A77B5602D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Delete row at index 1:</a:t>
            </a:r>
          </a:p>
          <a:p>
            <a:endParaRPr lang="en-PK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B8BF2B-AB47-0A91-D5E2-963D840AA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793425"/>
              </p:ext>
            </p:extLst>
          </p:nvPr>
        </p:nvGraphicFramePr>
        <p:xfrm>
          <a:off x="838200" y="2668253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311294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39826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Before</a:t>
                      </a:r>
                      <a:endParaRPr lang="en-GB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After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150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0:</a:t>
                      </a:r>
                      <a:r>
                        <a:rPr lang="en-GB"/>
                        <a:t> 1 2 3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0:</a:t>
                      </a:r>
                      <a:r>
                        <a:rPr lang="en-GB"/>
                        <a:t> 1 2 3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112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1:</a:t>
                      </a:r>
                      <a:r>
                        <a:rPr lang="en-GB"/>
                        <a:t> 0 0 0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1:</a:t>
                      </a:r>
                      <a:r>
                        <a:rPr lang="en-GB"/>
                        <a:t> 4 5 6 ← Shifted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283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2:</a:t>
                      </a:r>
                      <a:r>
                        <a:rPr lang="en-GB"/>
                        <a:t> 4 5 6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2:</a:t>
                      </a:r>
                      <a:r>
                        <a:rPr lang="en-GB"/>
                        <a:t> 7 8 9 ← Shifted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9990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/>
                        <a:t>Row 3:</a:t>
                      </a:r>
                      <a:r>
                        <a:rPr lang="en-GB"/>
                        <a:t> 7 8 9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Row 3:</a:t>
                      </a:r>
                      <a:r>
                        <a:rPr lang="en-GB" dirty="0"/>
                        <a:t> 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525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098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27C61-8736-CD45-FFAE-032A2B25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Deletion - Entire Column</a:t>
            </a:r>
            <a:endParaRPr lang="en-PK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C7A6D-5D16-A7E9-AB17-15F576FFB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/>
            <a:r>
              <a:rPr lang="en-GB" dirty="0"/>
              <a:t>Goal: Delete column at index </a:t>
            </a:r>
            <a:r>
              <a:rPr lang="en-GB" dirty="0" err="1"/>
              <a:t>pos</a:t>
            </a:r>
            <a:r>
              <a:rPr lang="en-GB" dirty="0"/>
              <a:t>, shifting all columns to its right, left by one.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Every row must be shifted individually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Time Complexity: O(R × C)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25789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F7654-33FF-A732-3C45-225125E78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2366"/>
            <a:ext cx="10515600" cy="528459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void </a:t>
            </a:r>
            <a:r>
              <a:rPr lang="en-GB" dirty="0" err="1"/>
              <a:t>deleteColumn</a:t>
            </a:r>
            <a:r>
              <a:rPr lang="en-GB" dirty="0"/>
              <a:t>(int A[][10], int rows, int &amp;</a:t>
            </a:r>
            <a:r>
              <a:rPr lang="en-GB" dirty="0" err="1"/>
              <a:t>numCols</a:t>
            </a:r>
            <a:r>
              <a:rPr lang="en-GB" dirty="0"/>
              <a:t>, int </a:t>
            </a:r>
            <a:r>
              <a:rPr lang="en-GB" dirty="0" err="1"/>
              <a:t>pos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{ </a:t>
            </a:r>
          </a:p>
          <a:p>
            <a:pPr marL="0" indent="0">
              <a:buNone/>
            </a:pPr>
            <a:r>
              <a:rPr lang="en-GB" dirty="0"/>
              <a:t>	for (int r = 0; r &lt; rows; r++) </a:t>
            </a:r>
          </a:p>
          <a:p>
            <a:pPr marL="0" indent="0">
              <a:buNone/>
            </a:pPr>
            <a:r>
              <a:rPr lang="en-GB" dirty="0"/>
              <a:t>	{ </a:t>
            </a:r>
          </a:p>
          <a:p>
            <a:pPr marL="0" indent="0">
              <a:buNone/>
            </a:pPr>
            <a:r>
              <a:rPr lang="en-GB" dirty="0"/>
              <a:t>		for (int c = </a:t>
            </a:r>
            <a:r>
              <a:rPr lang="en-GB" dirty="0" err="1"/>
              <a:t>pos</a:t>
            </a:r>
            <a:r>
              <a:rPr lang="en-GB" dirty="0"/>
              <a:t>; c &lt; </a:t>
            </a:r>
            <a:r>
              <a:rPr lang="en-GB" dirty="0" err="1"/>
              <a:t>numCols</a:t>
            </a:r>
            <a:r>
              <a:rPr lang="en-GB" dirty="0"/>
              <a:t> - 1; </a:t>
            </a:r>
            <a:r>
              <a:rPr lang="en-GB" dirty="0" err="1"/>
              <a:t>c++</a:t>
            </a:r>
            <a:r>
              <a:rPr lang="en-GB" dirty="0"/>
              <a:t>) </a:t>
            </a:r>
          </a:p>
          <a:p>
            <a:pPr marL="0" indent="0">
              <a:buNone/>
            </a:pPr>
            <a:r>
              <a:rPr lang="en-GB" dirty="0"/>
              <a:t>				A[r][c] = A[r][c + 1]; // shift row elements left </a:t>
            </a:r>
          </a:p>
          <a:p>
            <a:pPr marL="0" indent="0">
              <a:buNone/>
            </a:pPr>
            <a:r>
              <a:rPr lang="en-GB" dirty="0"/>
              <a:t>	} 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lang="en-GB" dirty="0" err="1"/>
              <a:t>numCols</a:t>
            </a:r>
            <a:r>
              <a:rPr lang="en-GB" dirty="0"/>
              <a:t>-</a:t>
            </a:r>
            <a:r>
              <a:rPr lang="en-GB"/>
              <a:t>-; </a:t>
            </a:r>
          </a:p>
          <a:p>
            <a:pPr marL="0" indent="0">
              <a:buNone/>
            </a:pPr>
            <a:r>
              <a:rPr lang="en-GB"/>
              <a:t>}</a:t>
            </a:r>
            <a:endParaRPr lang="en-GB" dirty="0"/>
          </a:p>
          <a:p>
            <a:pPr marL="0" indent="0">
              <a:buNone/>
            </a:pP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843922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8CEB-93BE-5295-B100-AF8CF0BD9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Complexity Summary - 2D Operations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BFD50E-3842-CF86-4334-5164C91746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3381147"/>
              </p:ext>
            </p:extLst>
          </p:nvPr>
        </p:nvGraphicFramePr>
        <p:xfrm>
          <a:off x="838200" y="1985207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083970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8067167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6844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Best 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Worst Case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2827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Traversal (full matrix)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O(R × C)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O(R × C)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717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Insert/Delete value in a row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 (at row's end)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O(C)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256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Insert/Delete entire row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-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O(R × C)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77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Insert/Delete entire column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dirty="0"/>
                        <a:t>-</a:t>
                      </a:r>
                      <a:endParaRPr lang="en-PK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O(R × C)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12912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CC96A24-658D-AD3D-9F17-66671B75426A}"/>
              </a:ext>
            </a:extLst>
          </p:cNvPr>
          <p:cNvSpPr txBox="1"/>
          <p:nvPr/>
        </p:nvSpPr>
        <p:spPr>
          <a:xfrm>
            <a:off x="838200" y="4506153"/>
            <a:ext cx="10515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Times New Roman" panose="02020603050405020304" pitchFamily="18" charset="0"/>
              </a:rPr>
              <a:t>Key takeaway: Whole-row and whole-column operations always cost O(R × C), because shifting one row or column requires touching every other row too - this is the natural extension of the O(n) shifting cost seen in 1D arrays.</a:t>
            </a:r>
            <a:endParaRPr lang="en-PK" sz="24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540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1440</TotalTime>
  <Words>2010</Words>
  <Application>Microsoft Macintosh PowerPoint</Application>
  <PresentationFormat>Widescreen</PresentationFormat>
  <Paragraphs>218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Office Theme</vt:lpstr>
      <vt:lpstr>Data Structures</vt:lpstr>
      <vt:lpstr>Multi-Dimensional Arrays</vt:lpstr>
      <vt:lpstr>What is a 2D Array?</vt:lpstr>
      <vt:lpstr>Traversal The Basic Idea</vt:lpstr>
      <vt:lpstr>Row-Major Traversal - Code</vt:lpstr>
      <vt:lpstr>Column-Major Traversal - Code</vt:lpstr>
      <vt:lpstr>Matrix Traversal Tasks</vt:lpstr>
      <vt:lpstr>Row Sum and Column Sum - Code</vt:lpstr>
      <vt:lpstr>Transition - Insertion in 2D Arrays</vt:lpstr>
      <vt:lpstr>Insertion - Value Within a Row</vt:lpstr>
      <vt:lpstr>Insertion - Dry Run (Value in a Row)</vt:lpstr>
      <vt:lpstr>Insertion - Entire New Row</vt:lpstr>
      <vt:lpstr>Insertion - Dry Run (New Row)</vt:lpstr>
      <vt:lpstr>Insertion - Entire New Column </vt:lpstr>
      <vt:lpstr>PowerPoint Presentation</vt:lpstr>
      <vt:lpstr>Transition - Deletion in 2D Arrays</vt:lpstr>
      <vt:lpstr>Deletion - Value Within a Row</vt:lpstr>
      <vt:lpstr>Deletion - Dry Run (Value in a Row)</vt:lpstr>
      <vt:lpstr>Deletion - Entire Row</vt:lpstr>
      <vt:lpstr>Deletion - Dry Run (Entire Row)</vt:lpstr>
      <vt:lpstr>Deletion - Entire Column</vt:lpstr>
      <vt:lpstr>PowerPoint Presentation</vt:lpstr>
      <vt:lpstr>Complexity Summary - 2D Operations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6</cp:revision>
  <dcterms:created xsi:type="dcterms:W3CDTF">2026-07-17T16:00:13Z</dcterms:created>
  <dcterms:modified xsi:type="dcterms:W3CDTF">2026-09-22T05:54:24Z</dcterms:modified>
</cp:coreProperties>
</file>