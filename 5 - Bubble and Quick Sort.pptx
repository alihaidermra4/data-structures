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601" r:id="rId10"/>
    <p:sldId id="602" r:id="rId11"/>
    <p:sldId id="603" r:id="rId12"/>
    <p:sldId id="604" r:id="rId13"/>
    <p:sldId id="605" r:id="rId14"/>
    <p:sldId id="606" r:id="rId15"/>
    <p:sldId id="607" r:id="rId16"/>
    <p:sldId id="608" r:id="rId17"/>
    <p:sldId id="609" r:id="rId18"/>
    <p:sldId id="610" r:id="rId19"/>
    <p:sldId id="612" r:id="rId20"/>
    <p:sldId id="613" r:id="rId21"/>
    <p:sldId id="320" r:id="rId22"/>
    <p:sldId id="321" r:id="rId2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4"/>
    <p:restoredTop sz="94648"/>
  </p:normalViewPr>
  <p:slideViewPr>
    <p:cSldViewPr snapToGrid="0">
      <p:cViewPr varScale="1">
        <p:scale>
          <a:sx n="109" d="100"/>
          <a:sy n="109" d="100"/>
        </p:scale>
        <p:origin x="2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15/10/2026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15/10/2026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cs typeface="Times New Roman" panose="02020603050405020304" pitchFamily="18" charset="0"/>
              </a:rPr>
              <a:t>School of CS &amp; IT</a:t>
            </a:r>
            <a:endParaRPr lang="en-PK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Sorting?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Sorting means arranging elements of an array into a specific order - ascending or descending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fundamental operation used to prepare data for efficient searching (e.g., Binary Search requires sorted data)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Two algorithms covered here, representing two very different strategies:</a:t>
            </a:r>
          </a:p>
          <a:p>
            <a:pPr lvl="1" rtl="0"/>
            <a:r>
              <a:rPr lang="en-GB" dirty="0"/>
              <a:t>Bubble Sort - simple, repeated comparison and swapping</a:t>
            </a:r>
          </a:p>
          <a:p>
            <a:pPr lvl="1" rtl="0"/>
            <a:r>
              <a:rPr lang="en-GB" dirty="0"/>
              <a:t>Merge Sort - divide and conquer, much faster for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Bubble Sort - The Idea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Repeatedly compare adjacent elements and swap them if they're in the wrong order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After each full pass, the largest unsorted element "bubbles up" to its correct position at the end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Repeat until no swaps are needed - the array is sorted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Analogy: Air bubbles rising to the surface of water - the largest value gradually rises to the top (end) of the array with each pass.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Bubble Sort - Algorithm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9500"/>
          </a:bodyPr>
          <a:lstStyle/>
          <a:p>
            <a:pPr marL="0" indent="0">
              <a:buNone/>
            </a:pPr>
            <a:r>
              <a:rPr lang="en-GB" dirty="0"/>
              <a:t>Algorithm: BubbleSort(A, 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For i = 0 to n-2:</a:t>
            </a:r>
          </a:p>
          <a:p>
            <a:pPr marL="0" indent="0">
              <a:buNone/>
            </a:pPr>
            <a:r>
              <a:rPr lang="en-GB" dirty="0"/>
              <a:t>       For j = 0 to n-2-i:</a:t>
            </a:r>
          </a:p>
          <a:p>
            <a:pPr marL="0" indent="0">
              <a:buNone/>
            </a:pPr>
            <a:r>
              <a:rPr lang="en-GB" dirty="0"/>
              <a:t>           If A[j] &gt; A[j+1]:</a:t>
            </a:r>
          </a:p>
          <a:p>
            <a:pPr marL="0" indent="0">
              <a:buNone/>
            </a:pPr>
            <a:r>
              <a:rPr lang="en-GB" dirty="0"/>
              <a:t>               Swap A[j] and A[j+1]</a:t>
            </a:r>
          </a:p>
          <a:p>
            <a:pPr marL="0" indent="0">
              <a:buNone/>
            </a:pPr>
            <a:r>
              <a:rPr lang="en-GB" dirty="0"/>
              <a:t>2. Array is sorted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Bubble Sort - C++ Code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GB" dirty="0"/>
              <a:t>void bubbleSort(int arr[], int n) {</a:t>
            </a:r>
          </a:p>
          <a:p>
            <a:pPr marL="0" indent="0">
              <a:buNone/>
            </a:pPr>
            <a:r>
              <a:rPr lang="en-GB" dirty="0"/>
              <a:t>    for (int i = 0; i &lt; n - 1; i++) {</a:t>
            </a:r>
          </a:p>
          <a:p>
            <a:pPr marL="0" indent="0">
              <a:buNone/>
            </a:pPr>
            <a:r>
              <a:rPr lang="en-GB" dirty="0"/>
              <a:t>        for (int j = 0; j &lt; n - 1 - i; j++) {</a:t>
            </a:r>
          </a:p>
          <a:p>
            <a:pPr marL="0" indent="0">
              <a:buNone/>
            </a:pPr>
            <a:r>
              <a:rPr lang="en-GB" dirty="0"/>
              <a:t>            if (arr[j] &gt; arr[j + 1]) {</a:t>
            </a:r>
          </a:p>
          <a:p>
            <a:pPr marL="0" indent="0">
              <a:buNone/>
            </a:pPr>
            <a:r>
              <a:rPr lang="en-GB" dirty="0"/>
              <a:t>                int temp = arr[j];</a:t>
            </a:r>
          </a:p>
          <a:p>
            <a:pPr marL="0" indent="0">
              <a:buNone/>
            </a:pPr>
            <a:r>
              <a:rPr lang="en-GB" dirty="0"/>
              <a:t>                arr[j] = arr[j + 1];</a:t>
            </a:r>
          </a:p>
          <a:p>
            <a:pPr marL="0" indent="0">
              <a:buNone/>
            </a:pPr>
            <a:r>
              <a:rPr lang="en-GB" dirty="0"/>
              <a:t>                arr[j + 1] = temp;</a:t>
            </a:r>
          </a:p>
          <a:p>
            <a:pPr marL="0" indent="0">
              <a:buNone/>
            </a:pPr>
            <a:r>
              <a:rPr lang="en-GB" dirty="0"/>
              <a:t>            }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Bubble Sort - Dry Run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716249"/>
              </p:ext>
            </p:extLst>
          </p:nvPr>
        </p:nvGraphicFramePr>
        <p:xfrm>
          <a:off x="838200" y="1999999"/>
          <a:ext cx="10515600" cy="388151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919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Pass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Array After Pass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919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5, 2, 9, 1, 5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919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2, 5, 1, 5, 9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919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2, 1, 5, 5, 9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919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1, 2, 5, 5, 9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919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Pass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1, 2, 5, 5, 9  (no swaps - 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Bubble Sort - Optimization (Early Exit)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72000" lnSpcReduction="20000"/>
          </a:bodyPr>
          <a:lstStyle/>
          <a:p>
            <a:pPr marL="0" indent="0">
              <a:buNone/>
            </a:pPr>
            <a:r>
              <a:rPr lang="en-GB" dirty="0"/>
              <a:t>void bubbleSortOptimized(int arr[], int n) {</a:t>
            </a:r>
          </a:p>
          <a:p>
            <a:pPr marL="0" indent="0">
              <a:buNone/>
            </a:pPr>
            <a:r>
              <a:rPr lang="en-GB" dirty="0"/>
              <a:t>    for (int i = 0; i &lt; n - 1; i++) {</a:t>
            </a:r>
          </a:p>
          <a:p>
            <a:pPr marL="0" indent="0">
              <a:buNone/>
            </a:pPr>
            <a:r>
              <a:rPr lang="en-GB" dirty="0"/>
              <a:t>        bool swapped = false;</a:t>
            </a:r>
          </a:p>
          <a:p>
            <a:pPr marL="0" indent="0">
              <a:buNone/>
            </a:pPr>
            <a:r>
              <a:rPr lang="en-GB" dirty="0"/>
              <a:t>        for (int j = 0; j &lt; n - 1 - i; j++) {</a:t>
            </a:r>
          </a:p>
          <a:p>
            <a:pPr marL="0" indent="0">
              <a:buNone/>
            </a:pPr>
            <a:r>
              <a:rPr lang="en-GB" dirty="0"/>
              <a:t>            if (arr[j] &gt; arr[j + 1]) {</a:t>
            </a:r>
          </a:p>
          <a:p>
            <a:pPr marL="0" indent="0">
              <a:buNone/>
            </a:pPr>
            <a:r>
              <a:rPr lang="en-GB" dirty="0"/>
              <a:t>                int temp = arr[j];</a:t>
            </a:r>
          </a:p>
          <a:p>
            <a:pPr marL="0" indent="0">
              <a:buNone/>
            </a:pPr>
            <a:r>
              <a:rPr lang="en-GB" dirty="0"/>
              <a:t>                arr[j] = arr[j + 1];</a:t>
            </a:r>
          </a:p>
          <a:p>
            <a:pPr marL="0" indent="0">
              <a:buNone/>
            </a:pPr>
            <a:r>
              <a:rPr lang="en-GB" dirty="0"/>
              <a:t>                arr[j + 1] = temp;</a:t>
            </a:r>
          </a:p>
          <a:p>
            <a:pPr marL="0" indent="0">
              <a:buNone/>
            </a:pPr>
            <a:r>
              <a:rPr lang="en-GB" dirty="0"/>
              <a:t>                swapped = true;</a:t>
            </a:r>
          </a:p>
          <a:p>
            <a:pPr marL="0" indent="0">
              <a:buNone/>
            </a:pPr>
            <a:r>
              <a:rPr lang="en-GB" dirty="0"/>
              <a:t>            }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    if (!swapped) break;   // already sorted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Bubble Sort - Complexity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3587148"/>
              </p:ext>
            </p:extLst>
          </p:nvPr>
        </p:nvGraphicFramePr>
        <p:xfrm>
          <a:off x="838200" y="1874519"/>
          <a:ext cx="10515600" cy="37812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6243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Scenario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Time Complexity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243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Best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Already sorted (optimized)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243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Worst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Sorted in reverse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243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Average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Random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243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Space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In-place, no extra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Quick Sort?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fast, comparison-based sorting algorithm that uses divide and conquer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Picks one element as the pivot and rearranges the array around it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Elements smaller than the pivot go to its left; larger elements go to its right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Then the left and right parts are sorted recursively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Sorts in place - no extra array needed, unlike Merge Sort</a:t>
            </a:r>
          </a:p>
        </p:txBody>
      </p:sp>
    </p:spTree>
    <p:extLst>
      <p:ext uri="{BB962C8B-B14F-4D97-AF65-F5344CB8AC3E}">
        <p14:creationId xmlns:p14="http://schemas.microsoft.com/office/powerpoint/2010/main" val="3115910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Quick Sort - The Idea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Divide: choose a pivot and partition the array so that the pivot lands in its final sorted position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Conquer: recursively sort the part before the pivot and the part after it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Combine: nothing to do - the array is already sorted in place once the recursion ends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Key difference from Merge Sort: the hard work is in the partition step (before the recursive calls), not the merge step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Analogy: Pick a reference student and ask everyone shorter to stand on the left and everyone taller on the right; then repeat within each group.</a:t>
            </a:r>
          </a:p>
        </p:txBody>
      </p:sp>
    </p:spTree>
    <p:extLst>
      <p:ext uri="{BB962C8B-B14F-4D97-AF65-F5344CB8AC3E}">
        <p14:creationId xmlns:p14="http://schemas.microsoft.com/office/powerpoint/2010/main" val="3350943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Quick Sort - Algorithm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9500"/>
          </a:bodyPr>
          <a:lstStyle/>
          <a:p>
            <a:pPr marL="0" indent="0">
              <a:buNone/>
            </a:pPr>
            <a:r>
              <a:rPr lang="en-GB" dirty="0"/>
              <a:t>Algorithm: QuickSort(A, low, high)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If low &lt; high:</a:t>
            </a:r>
          </a:p>
          <a:p>
            <a:pPr marL="0" indent="0">
              <a:buNone/>
            </a:pPr>
            <a:r>
              <a:rPr lang="en-GB" dirty="0"/>
              <a:t>       p = Partition(A, low, high)   // pivot ends at index p</a:t>
            </a:r>
          </a:p>
          <a:p>
            <a:pPr marL="0" indent="0">
              <a:buNone/>
            </a:pPr>
            <a:r>
              <a:rPr lang="en-GB" dirty="0"/>
              <a:t>       QuickSort(A, low, p - 1)      // sort left part</a:t>
            </a:r>
          </a:p>
          <a:p>
            <a:pPr marL="0" indent="0">
              <a:buNone/>
            </a:pPr>
            <a:r>
              <a:rPr lang="en-GB" dirty="0"/>
              <a:t>       QuickSort(A, p + 1, high)     // sort right part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Base case: low &gt;= high (0 or 1 element is already sorted)</a:t>
            </a:r>
          </a:p>
        </p:txBody>
      </p:sp>
    </p:spTree>
    <p:extLst>
      <p:ext uri="{BB962C8B-B14F-4D97-AF65-F5344CB8AC3E}">
        <p14:creationId xmlns:p14="http://schemas.microsoft.com/office/powerpoint/2010/main" val="1837664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Quick Sort - The Partition Step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7000" lnSpcReduction="10000"/>
          </a:bodyPr>
          <a:lstStyle/>
          <a:p>
            <a:pPr marL="0" indent="0">
              <a:buNone/>
            </a:pPr>
            <a:r>
              <a:rPr lang="en-GB" dirty="0"/>
              <a:t>Algorithm: Partition(A, low, high)       // last element as pivot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pivot = A[high]</a:t>
            </a:r>
          </a:p>
          <a:p>
            <a:pPr marL="0" indent="0">
              <a:buNone/>
            </a:pPr>
            <a:r>
              <a:rPr lang="en-GB" dirty="0"/>
              <a:t>2. i = low - 1</a:t>
            </a:r>
          </a:p>
          <a:p>
            <a:pPr marL="0" indent="0">
              <a:buNone/>
            </a:pPr>
            <a:r>
              <a:rPr lang="en-GB" dirty="0"/>
              <a:t>3. For j = low to high - 1:</a:t>
            </a:r>
          </a:p>
          <a:p>
            <a:pPr marL="0" indent="0">
              <a:buNone/>
            </a:pPr>
            <a:r>
              <a:rPr lang="en-GB" dirty="0"/>
              <a:t>       If A[j] &lt;= pivot:</a:t>
            </a:r>
          </a:p>
          <a:p>
            <a:pPr marL="0" indent="0">
              <a:buNone/>
            </a:pPr>
            <a:r>
              <a:rPr lang="en-GB" dirty="0"/>
              <a:t>           i = i + 1</a:t>
            </a:r>
          </a:p>
          <a:p>
            <a:pPr marL="0" indent="0">
              <a:buNone/>
            </a:pPr>
            <a:r>
              <a:rPr lang="en-GB" dirty="0"/>
              <a:t>           Swap A[i] and A[j]</a:t>
            </a:r>
          </a:p>
          <a:p>
            <a:pPr marL="0" indent="0">
              <a:buNone/>
            </a:pPr>
            <a:r>
              <a:rPr lang="en-GB" dirty="0"/>
              <a:t>4. Swap A[i+1] and A[high]               // place pivot</a:t>
            </a:r>
          </a:p>
          <a:p>
            <a:pPr marL="0" indent="0">
              <a:buNone/>
            </a:pPr>
            <a:r>
              <a:rPr lang="en-GB" dirty="0"/>
              <a:t>5. Return i + 1                          // pivot's final index</a:t>
            </a:r>
          </a:p>
        </p:txBody>
      </p:sp>
    </p:spTree>
    <p:extLst>
      <p:ext uri="{BB962C8B-B14F-4D97-AF65-F5344CB8AC3E}">
        <p14:creationId xmlns:p14="http://schemas.microsoft.com/office/powerpoint/2010/main" val="739170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Quick Sort - C++ Code (Partition)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79500" lnSpcReduction="20000"/>
          </a:bodyPr>
          <a:lstStyle/>
          <a:p>
            <a:pPr marL="0" indent="0">
              <a:buNone/>
            </a:pPr>
            <a:r>
              <a:rPr lang="en-GB" dirty="0"/>
              <a:t>int partition(int arr[], int low, int high) {</a:t>
            </a:r>
          </a:p>
          <a:p>
            <a:pPr marL="0" indent="0">
              <a:buNone/>
            </a:pPr>
            <a:r>
              <a:rPr lang="en-GB" dirty="0"/>
              <a:t>    int pivot = arr[high];</a:t>
            </a:r>
          </a:p>
          <a:p>
            <a:pPr marL="0" indent="0">
              <a:buNone/>
            </a:pPr>
            <a:r>
              <a:rPr lang="en-GB" dirty="0"/>
              <a:t>    int i = low - 1;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for (int j = low; j &lt; high; j++) {</a:t>
            </a:r>
          </a:p>
          <a:p>
            <a:pPr marL="0" indent="0">
              <a:buNone/>
            </a:pPr>
            <a:r>
              <a:rPr lang="en-GB" dirty="0"/>
              <a:t>        if (arr[j] &lt;= pivot) {</a:t>
            </a:r>
          </a:p>
          <a:p>
            <a:pPr marL="0" indent="0">
              <a:buNone/>
            </a:pPr>
            <a:r>
              <a:rPr lang="en-GB" dirty="0"/>
              <a:t>            i++;</a:t>
            </a:r>
          </a:p>
          <a:p>
            <a:pPr marL="0" indent="0">
              <a:buNone/>
            </a:pPr>
            <a:r>
              <a:rPr lang="en-GB" dirty="0"/>
              <a:t>            swap(arr[i], arr[j]);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swap(arr[i + 1], arr[high]);</a:t>
            </a:r>
          </a:p>
          <a:p>
            <a:pPr marL="0" indent="0">
              <a:buNone/>
            </a:pPr>
            <a:r>
              <a:rPr lang="en-GB" dirty="0"/>
              <a:t>    return i + 1;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0956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Quick Sort - C++ Code (Recursive Driver)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5500" lnSpcReduction="10000"/>
          </a:bodyPr>
          <a:lstStyle/>
          <a:p>
            <a:pPr marL="0" indent="0">
              <a:buNone/>
            </a:pPr>
            <a:r>
              <a:rPr lang="en-GB" dirty="0"/>
              <a:t>void quickSort(int arr[], int low, int high) {</a:t>
            </a:r>
          </a:p>
          <a:p>
            <a:pPr marL="0" indent="0">
              <a:buNone/>
            </a:pPr>
            <a:r>
              <a:rPr lang="en-GB" dirty="0"/>
              <a:t>    if (low &lt; high) {</a:t>
            </a:r>
          </a:p>
          <a:p>
            <a:pPr marL="0" indent="0">
              <a:buNone/>
            </a:pPr>
            <a:r>
              <a:rPr lang="en-GB" dirty="0"/>
              <a:t>        int p = partition(arr, low, high);</a:t>
            </a:r>
          </a:p>
          <a:p>
            <a:pPr marL="0" indent="0">
              <a:buNone/>
            </a:pPr>
            <a:r>
              <a:rPr lang="en-GB" dirty="0"/>
              <a:t>        quickSort(arr, low, p - 1);</a:t>
            </a:r>
          </a:p>
          <a:p>
            <a:pPr marL="0" indent="0">
              <a:buNone/>
            </a:pPr>
            <a:r>
              <a:rPr lang="en-GB" dirty="0"/>
              <a:t>        quickSort(arr, p + 1, high);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Call from main():</a:t>
            </a:r>
          </a:p>
          <a:p>
            <a:pPr marL="0" indent="0">
              <a:buNone/>
            </a:pPr>
            <a:r>
              <a:rPr lang="en-GB" dirty="0"/>
              <a:t>quickSort(arr, 0, n - 1);</a:t>
            </a:r>
          </a:p>
        </p:txBody>
      </p:sp>
    </p:spTree>
    <p:extLst>
      <p:ext uri="{BB962C8B-B14F-4D97-AF65-F5344CB8AC3E}">
        <p14:creationId xmlns:p14="http://schemas.microsoft.com/office/powerpoint/2010/main" val="3968349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Partition - Dry Run (pivot = 70)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500000"/>
          <a:ext cx="105156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Step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arr[j]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Action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Array State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pivot = 70, i =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10, 80, 30, 90, 40, 50, 70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j=0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10 ≤ 70: i=0, swap with itself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10, 80, 30, 90, 40, 50, 70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j=1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80 &gt; 70: skip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10, 80, 30, 90, 40, 50, 70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j=2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30 ≤ 70: i=1, swap arr[1], arr[2]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10, 30, 80, 90, 40, 50, 70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j=3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90 &gt; 70: skip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10, 30, 80, 90, 40, 50, 70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j=4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40 ≤ 70: i=2, swap arr[2], arr[4]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10, 30, 40, 90, 80, 50, 70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j=5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50 ≤ 70: i=3, swap arr[3], arr[5]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10, 30, 40, 50, 80, 90, 70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swap arr[i+1], pivot: pivot at index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10, 30, 40, 50, 70, 90, 80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870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Quick Sort - Dry Run (Recursion)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en-GB" dirty="0"/>
              <a:t>Array: [10, 80, 30, 90, 40, 50, 70]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quickSort(0,6): pivot 70 -&gt; index 4     [10,30,40,50,70,90,80]</a:t>
            </a:r>
          </a:p>
          <a:p>
            <a:pPr marL="0" indent="0">
              <a:buNone/>
            </a:pPr>
            <a:r>
              <a:rPr lang="en-GB" dirty="0"/>
              <a:t>  quickSort(0,3): [10,30,40,50]  pivot 50 -&gt; index 3</a:t>
            </a:r>
          </a:p>
          <a:p>
            <a:pPr marL="0" indent="0">
              <a:buNone/>
            </a:pPr>
            <a:r>
              <a:rPr lang="en-GB" dirty="0"/>
              <a:t>    quickSort(0,2): [10,30,40]   pivot 40 -&gt; index 2</a:t>
            </a:r>
          </a:p>
          <a:p>
            <a:pPr marL="0" indent="0">
              <a:buNone/>
            </a:pPr>
            <a:r>
              <a:rPr lang="en-GB" dirty="0"/>
              <a:t>      quickSort(0,1): [10,30]    pivot 30 -&gt; index 1</a:t>
            </a:r>
          </a:p>
          <a:p>
            <a:pPr marL="0" indent="0">
              <a:buNone/>
            </a:pPr>
            <a:r>
              <a:rPr lang="en-GB" dirty="0"/>
              <a:t>        quickSort(0,0): one element, return</a:t>
            </a:r>
          </a:p>
          <a:p>
            <a:pPr marL="0" indent="0">
              <a:buNone/>
            </a:pPr>
            <a:r>
              <a:rPr lang="en-GB" dirty="0"/>
              <a:t>  quickSort(5,6): [90,80]        pivot 80 -&gt; [80,90]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Final: [10, 30, 40, 50, 70, 80, 90]</a:t>
            </a:r>
          </a:p>
        </p:txBody>
      </p:sp>
    </p:spTree>
    <p:extLst>
      <p:ext uri="{BB962C8B-B14F-4D97-AF65-F5344CB8AC3E}">
        <p14:creationId xmlns:p14="http://schemas.microsoft.com/office/powerpoint/2010/main" val="1245090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Choosing the Pivot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pivot choice decides how balanced the two parts are, which controls speed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Last (or first) element: simple, but sorted or reverse-sorted input gives the worst case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Random element: makes the worst case very unlikely on any input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Median-of-three (first, middle, last): a common practical choice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Goal: split the array into two parts of roughly equal size</a:t>
            </a:r>
          </a:p>
        </p:txBody>
      </p:sp>
    </p:spTree>
    <p:extLst>
      <p:ext uri="{BB962C8B-B14F-4D97-AF65-F5344CB8AC3E}">
        <p14:creationId xmlns:p14="http://schemas.microsoft.com/office/powerpoint/2010/main" val="158682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Quick Sort - Complexity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2651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Scenario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Time Complexity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Best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Pivot splits the array evenly each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 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Average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Random order of elements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 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Worst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Always smallest/largest pivot (e.g., sorted input, last-element pivot)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Space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Recursion stack: O(log n) average, O(n) worst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725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Sorting Algorithms - The Bigger Picture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8750963"/>
              </p:ext>
            </p:extLst>
          </p:nvPr>
        </p:nvGraphicFramePr>
        <p:xfrm>
          <a:off x="838199" y="1700000"/>
          <a:ext cx="10515599" cy="332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5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584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Algorithm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Best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Worst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Space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84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Bubble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84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Selection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84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Insertion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584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Quick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 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O(log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10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Summary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Quick Sort picks a pivot, partitions the array around it, and recursively sorts both sides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pivot lands in its final position after each partition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Average case O(n log n), worst case O(n²) - random or median-of-three pivots help avoid the worst case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Sorts in place with only O(log n) stack space, but is not stable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Often the fastest general-purpose comparison sort in practice</a:t>
            </a:r>
          </a:p>
        </p:txBody>
      </p:sp>
    </p:spTree>
    <p:extLst>
      <p:ext uri="{BB962C8B-B14F-4D97-AF65-F5344CB8AC3E}">
        <p14:creationId xmlns:p14="http://schemas.microsoft.com/office/powerpoint/2010/main" val="233270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1777</Words>
  <Application>Microsoft Macintosh PowerPoint</Application>
  <PresentationFormat>Widescreen</PresentationFormat>
  <Paragraphs>235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Times New Roman</vt:lpstr>
      <vt:lpstr>Office Theme</vt:lpstr>
      <vt:lpstr>Sorting Algorithms</vt:lpstr>
      <vt:lpstr>What is Sorting?</vt:lpstr>
      <vt:lpstr>Bubble Sort - The Idea</vt:lpstr>
      <vt:lpstr>Bubble Sort - Algorithm</vt:lpstr>
      <vt:lpstr>Bubble Sort - C++ Code</vt:lpstr>
      <vt:lpstr>Bubble Sort - Dry Run</vt:lpstr>
      <vt:lpstr>Bubble Sort - Optimization (Early Exit)</vt:lpstr>
      <vt:lpstr>Bubble Sort - Complexity</vt:lpstr>
      <vt:lpstr>What is Quick Sort?</vt:lpstr>
      <vt:lpstr>Quick Sort - The Idea</vt:lpstr>
      <vt:lpstr>Quick Sort - Algorithm</vt:lpstr>
      <vt:lpstr>Quick Sort - The Partition Step</vt:lpstr>
      <vt:lpstr>Quick Sort - C++ Code (Partition)</vt:lpstr>
      <vt:lpstr>Quick Sort - C++ Code (Recursive Driver)</vt:lpstr>
      <vt:lpstr>Partition - Dry Run (pivot = 70)</vt:lpstr>
      <vt:lpstr>Quick Sort - Dry Run (Recursion)</vt:lpstr>
      <vt:lpstr>Choosing the Pivot</vt:lpstr>
      <vt:lpstr>Quick Sort - Complexity</vt:lpstr>
      <vt:lpstr>Sorting Algorithms - The Bigger Picture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8</cp:revision>
  <dcterms:created xsi:type="dcterms:W3CDTF">2026-07-17T16:00:13Z</dcterms:created>
  <dcterms:modified xsi:type="dcterms:W3CDTF">2026-10-15T05:53:38Z</dcterms:modified>
</cp:coreProperties>
</file>